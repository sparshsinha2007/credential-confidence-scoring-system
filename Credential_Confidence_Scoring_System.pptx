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A5C"/>
                </a:solidFill>
                <a:latin typeface="Arial"/>
              </a:defRPr>
            </a:pPr>
            <a:r>
              <a:rPr sz="1300" b="0" i="0" u="none" strike="noStrike">
                <a:solidFill>
                  <a:srgbClr val="1B3A5C"/>
                </a:solidFill>
                <a:latin typeface="Arial"/>
              </a:rPr>
              <a:t>Test Cases by Category</a:t>
            </a:r>
          </a:p>
        </c:rich>
      </c:tx>
      <c:layout/>
      <c:overlay val="0"/>
    </c:title>
    <c:autoTitleDeleted val="0"/>
    <c:plotArea>
      <c:layout/>
      <c:barChart>
        <c:barDir val="col"/>
        <c:grouping val="clustered"/>
        <c:varyColors val="0"/>
        <c:ser>
          <c:idx val="0"/>
          <c:order val="0"/>
          <c:tx>
            <c:strRef>
              <c:f>Sheet1!$B$1</c:f>
              <c:strCache>
                <c:ptCount val="1"/>
                <c:pt idx="0">
                  <c:v>Test Cases</c:v>
                </c:pt>
              </c:strCache>
            </c:strRef>
          </c:tx>
          <c:spPr>
            <a:solidFill>
              <a:srgbClr val="0B7A75"/>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B7A75"/>
              </a:solidFill>
              <a:effectLst/>
            </c:spPr>
          </c:dPt>
          <c:dPt>
            <c:idx val="1"/>
            <c:invertIfNegative val="0"/>
            <c:bubble3D val="0"/>
            <c:spPr>
              <a:solidFill>
                <a:srgbClr val="0B7A75"/>
              </a:solidFill>
              <a:effectLst/>
            </c:spPr>
          </c:dPt>
          <c:dPt>
            <c:idx val="2"/>
            <c:invertIfNegative val="0"/>
            <c:bubble3D val="0"/>
            <c:spPr>
              <a:solidFill>
                <a:srgbClr val="0B7A75"/>
              </a:solidFill>
              <a:effectLst/>
            </c:spPr>
          </c:dPt>
          <c:dPt>
            <c:idx val="3"/>
            <c:invertIfNegative val="0"/>
            <c:bubble3D val="0"/>
            <c:spPr>
              <a:solidFill>
                <a:srgbClr val="0D9488"/>
              </a:solidFill>
              <a:effectLst/>
            </c:spPr>
          </c:dPt>
          <c:dPt>
            <c:idx val="4"/>
            <c:invertIfNegative val="0"/>
            <c:bubble3D val="0"/>
            <c:spPr>
              <a:solidFill>
                <a:srgbClr val="0D9488"/>
              </a:solidFill>
              <a:effectLst/>
            </c:spPr>
          </c:dPt>
          <c:dPt>
            <c:idx val="5"/>
            <c:invertIfNegative val="0"/>
            <c:bubble3D val="0"/>
            <c:spPr>
              <a:solidFill>
                <a:srgbClr val="1B3A5C"/>
              </a:solidFill>
              <a:effectLst/>
            </c:spPr>
          </c:dPt>
          <c:cat>
            <c:multiLvlStrRef>
              <c:f>Sheet1!$A$2:$A$7</c:f>
              <c:multiLvlStrCache>
                <c:ptCount val="6"/>
                <c:lvl>
                  <c:pt idx="0">
                    <c:v>Functional</c:v>
                  </c:pt>
                  <c:pt idx="1">
                    <c:v>Security</c:v>
                  </c:pt>
                  <c:pt idx="2">
                    <c:v>Edge Case</c:v>
                  </c:pt>
                  <c:pt idx="3">
                    <c:v>Boundary</c:v>
                  </c:pt>
                  <c:pt idx="4">
                    <c:v>Negative</c:v>
                  </c:pt>
                  <c:pt idx="5">
                    <c:v>Performance</c:v>
                  </c:pt>
                </c:lvl>
              </c:multiLvlStrCache>
            </c:multiLvlStrRef>
          </c:cat>
          <c:val>
            <c:numRef>
              <c:f>Sheet1!$B$2:$B$7</c:f>
              <c:numCache>
                <c:formatCode>General</c:formatCode>
                <c:ptCount val="6"/>
                <c:pt idx="0">
                  <c:v>8</c:v>
                </c:pt>
                <c:pt idx="1">
                  <c:v>12</c:v>
                </c:pt>
                <c:pt idx="2">
                  <c:v>7</c:v>
                </c:pt>
                <c:pt idx="3">
                  <c:v>5</c:v>
                </c:pt>
                <c:pt idx="4">
                  <c:v>4</c:v>
                </c:pt>
                <c:pt idx="5">
                  <c:v>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A5C"/>
                </a:solidFill>
                <a:latin typeface="Arial"/>
              </a:defRPr>
            </a:pPr>
            <a:r>
              <a:rPr sz="1300" b="0" i="0" u="none" strike="noStrike">
                <a:solidFill>
                  <a:srgbClr val="1B3A5C"/>
                </a:solidFill>
                <a:latin typeface="Arial"/>
              </a:rPr>
              <a:t>Risk Level Distribution</a:t>
            </a:r>
          </a:p>
        </c:rich>
      </c:tx>
      <c:layout/>
      <c:overlay val="0"/>
    </c:title>
    <c:autoTitleDeleted val="0"/>
    <c:plotArea>
      <c:layout/>
      <c:doughnutChart>
        <c:varyColors val="1"/>
        <c:ser>
          <c:idx val="0"/>
          <c:order val="0"/>
          <c:tx>
            <c:strRef>
              <c:f>Sheet1!$B$1</c:f>
              <c:strCache>
                <c:ptCount val="1"/>
                <c:pt idx="0">
                  <c:v>Risk</c:v>
                </c:pt>
              </c:strCache>
            </c:strRef>
          </c:tx>
          <c:spPr>
            <a:solidFill>
              <a:schemeClr val="accent1"/>
            </a:solidFill>
            <a:ln w="9525" cap="flat">
              <a:solidFill>
                <a:srgbClr val="F9F9F9"/>
              </a:solidFill>
              <a:prstDash val="solid"/>
              <a:round/>
            </a:ln>
            <a:effectLst/>
          </c:spPr>
          <c:dPt>
            <c:idx val="0"/>
            <c:bubble3D val="0"/>
            <c:spPr>
              <a:solidFill>
                <a:srgbClr val="059669"/>
              </a:solidFill>
              <a:effectLst/>
            </c:spPr>
          </c:dPt>
          <c:dPt>
            <c:idx val="1"/>
            <c:bubble3D val="0"/>
            <c:spPr>
              <a:solidFill>
                <a:srgbClr val="D97706"/>
              </a:solidFill>
              <a:effectLst/>
            </c:spPr>
          </c:dPt>
          <c:dPt>
            <c:idx val="2"/>
            <c:bubble3D val="0"/>
            <c:spPr>
              <a:solidFill>
                <a:srgbClr val="DC2626"/>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LOW (ALLOW)</c:v>
                </c:pt>
                <c:pt idx="1">
                  <c:v>MEDIUM (STEP-UP)</c:v>
                </c:pt>
                <c:pt idx="2">
                  <c:v>HIGH (BLOCK)</c:v>
                </c:pt>
              </c:strCache>
            </c:strRef>
          </c:cat>
          <c:val>
            <c:numRef>
              <c:f>Sheet1!$B$2:$B$4</c:f>
              <c:numCache>
                <c:ptCount val="3"/>
                <c:pt idx="0">
                  <c:v>11</c:v>
                </c:pt>
                <c:pt idx="1">
                  <c:v>16</c:v>
                </c:pt>
                <c:pt idx="2">
                  <c:v>12</c:v>
                </c:pt>
              </c:numCache>
            </c:numRef>
          </c:val>
        </c:ser>
        <c:firstSliceAng val="0"/>
        <c:holeSize val="50"/>
      </c:doughnut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Say: 'I am presenting my final year project — Credential Usage Confidence Scoring System — a pure Java behavioral analytics engine that evaluates login legitimacy through five independent dimensions and generates an explainable risk decision using Softmax Dynamic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Traditional authentication only checks passwords. But modern attackers have valid stolen credentials. We need to check context: 'Is this login behaving normally?' Our system answers that question with a confidence score and an explainable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pipeline: 5 scorers feed into the Softmax engine → generates a 0-100 confidence score → Risk Classifier maps it to LOW/MEDIUM/HIGH → Action Engine produces final decision. Emphasize: every step is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layer: Layer 1 is pure data — POJOs with Builder pattern. Layer 2 is where intelligence lives — each scorer is an independent Strategy, making the system Open/Closed (add new scorer without modifying engine). Layer 3 orchestrates everything and produces the final explainable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innovation. Softmax is borrowed from neural networks — it converts raw reliability scores into a probability distribution of weights that always sum to 1. If a scorer is unavailable (e.g., no location data), the other weights automatically compensate. No manual tuning needed. Emphasize: this is what makes our system adaptive and production-grade.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formula explain the intuition, not just the math. Time uses Gaussian because normal human behavior clusters around habitual hours. Location uses exponential decay because risk increases exponentially with distance. Device is simple Bayesian probability. Behavior uses coefficient of variation — a statistical anomaly detector. Failed attempts uses exponential penalty to be very sensitive to even a few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step by step. Emphasize step 2 — isApplicable() is key for handling missing data gracefully. Emphasize step 4 — this is where Softmax magic happens. Emphasize step 7 — the output isn't just a number but an explainable decision with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Strategy Pattern — it's the backbone. The CredentialScorer interface with isApplicable() and calculate() is what makes the entire system extensible. Every scorer is a plug-in. Constructor Injection is important for testability — we can inject mock scorers in JUnit tests. This shows software engineering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test cases across 6 categories: Functional (normal flows), Edge (impossible travel, expired history), Security (brute force, session hijack, suspicious agents), Boundary (exact threshold scores), Negative (null inputs), Performance (1000 logins). Most fall in MEDIUM because the system is conservative by design — any single anomaly triggers caution. Explain TC_021: location consistency drops near zero for impossible travel, dragging the score below 40 despite everything else being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donut shows 41% MEDIUM, 31% HIGH, 28% LOW. The high MEDIUM count is intentional — the system is designed to be conservative. It would rather ask for step-up verification than let an attacker through. Explain: this matches real banking systems where false negatives (missing an attack) are far more costly than false positives (asking a legitimate user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result to emphasize: 100% test case accuracy with no false negatives on security tests. The explainability feature is a major differentiator — GDPR article 22 requires automated decisions to be explainable. Our system natively satisfies this. Real-world use: a bank can deploy this as a silent layer — users with score &gt; 70 get frictionless login; score 40-70 gets OTP; score &lt; 40 gets blocked and flagged for fraud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shows you've thought beyond the project. The most impressive ones to mention: ML integration (replacing hardcoded reliability scores with learned ones), Kafka (production-scale deployment), and Behavioral Biometrics (impossible to steal typing patterns). If asked 'what would you do differently', mention Kafka and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 team. Say: Arshit handled the mathematical scoring core — all 5 algorithms and the UI. Sparsh built the engine, risk classification, and action decision system. Architecture, test cases, and documentation were done jointly. Be confident about your individual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confidently: 'This project demonstrates that credential security can be both accurate and explainable. By combining behavioral analytics with Softmax Dynamic Weighting, we achieve adaptive risk scoring that outperforms static-weight systems. The architecture follows industry best practices, and the 39-test validation suite proves production reliability. I am open to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p:spPr>
      </p:sp>
      <p:sp>
        <p:nvSpPr>
          <p:cNvPr id="3" name="Shape 1"/>
          <p:cNvSpPr/>
          <p:nvPr/>
        </p:nvSpPr>
        <p:spPr>
          <a:xfrm>
            <a:off x="6858000" y="-457200"/>
            <a:ext cx="3200400" cy="3200400"/>
          </a:xfrm>
          <a:prstGeom prst="ellipse">
            <a:avLst/>
          </a:prstGeom>
          <a:solidFill>
            <a:srgbClr val="1B3A5C">
              <a:alpha val="40000"/>
            </a:srgbClr>
          </a:solidFill>
          <a:ln/>
        </p:spPr>
      </p:sp>
      <p:sp>
        <p:nvSpPr>
          <p:cNvPr id="4" name="Shape 2"/>
          <p:cNvSpPr/>
          <p:nvPr/>
        </p:nvSpPr>
        <p:spPr>
          <a:xfrm>
            <a:off x="7498080" y="2926080"/>
            <a:ext cx="2011680" cy="2011680"/>
          </a:xfrm>
          <a:prstGeom prst="ellipse">
            <a:avLst/>
          </a:prstGeom>
          <a:solidFill>
            <a:srgbClr val="0B7A75">
              <a:alpha val="30000"/>
            </a:srgbClr>
          </a:solidFill>
          <a:ln/>
        </p:spPr>
      </p:sp>
      <p:sp>
        <p:nvSpPr>
          <p:cNvPr id="5" name="Text 3"/>
          <p:cNvSpPr/>
          <p:nvPr/>
        </p:nvSpPr>
        <p:spPr>
          <a:xfrm>
            <a:off x="457200" y="822960"/>
            <a:ext cx="8046720" cy="777240"/>
          </a:xfrm>
          <a:prstGeom prst="rect">
            <a:avLst/>
          </a:prstGeom>
          <a:noFill/>
          <a:ln/>
        </p:spPr>
        <p:txBody>
          <a:bodyPr wrap="square" rtlCol="0" anchor="ctr"/>
          <a:lstStyle/>
          <a:p>
            <a:pPr indent="0" marL="0">
              <a:buNone/>
            </a:pPr>
            <a:r>
              <a:rPr lang="en-US" sz="4000" b="1" spc="300" kern="0" dirty="0">
                <a:solidFill>
                  <a:srgbClr val="FFFFFF"/>
                </a:solidFill>
                <a:latin typeface="Calibri" pitchFamily="34" charset="0"/>
                <a:ea typeface="Calibri" pitchFamily="34" charset="-122"/>
                <a:cs typeface="Calibri" pitchFamily="34" charset="-120"/>
              </a:rPr>
              <a:t>CREDENTIAL USAGE</a:t>
            </a:r>
            <a:endParaRPr lang="en-US" sz="4000" dirty="0"/>
          </a:p>
        </p:txBody>
      </p:sp>
      <p:sp>
        <p:nvSpPr>
          <p:cNvPr id="6" name="Text 4"/>
          <p:cNvSpPr/>
          <p:nvPr/>
        </p:nvSpPr>
        <p:spPr>
          <a:xfrm>
            <a:off x="457200" y="1554480"/>
            <a:ext cx="8046720" cy="777240"/>
          </a:xfrm>
          <a:prstGeom prst="rect">
            <a:avLst/>
          </a:prstGeom>
          <a:noFill/>
          <a:ln/>
        </p:spPr>
        <p:txBody>
          <a:bodyPr wrap="square" rtlCol="0" anchor="ctr"/>
          <a:lstStyle/>
          <a:p>
            <a:pPr indent="0" marL="0">
              <a:buNone/>
            </a:pPr>
            <a:r>
              <a:rPr lang="en-US" sz="4000" b="1" spc="300" kern="0" dirty="0">
                <a:solidFill>
                  <a:srgbClr val="5EEAD4"/>
                </a:solidFill>
                <a:latin typeface="Calibri" pitchFamily="34" charset="0"/>
                <a:ea typeface="Calibri" pitchFamily="34" charset="-122"/>
                <a:cs typeface="Calibri" pitchFamily="34" charset="-120"/>
              </a:rPr>
              <a:t>CONFIDENCE SCORING SYSTEM</a:t>
            </a:r>
            <a:endParaRPr lang="en-US" sz="4000" dirty="0"/>
          </a:p>
        </p:txBody>
      </p:sp>
      <p:sp>
        <p:nvSpPr>
          <p:cNvPr id="7" name="Shape 5"/>
          <p:cNvSpPr/>
          <p:nvPr/>
        </p:nvSpPr>
        <p:spPr>
          <a:xfrm>
            <a:off x="457200" y="2423160"/>
            <a:ext cx="4572000" cy="36576"/>
          </a:xfrm>
          <a:prstGeom prst="rect">
            <a:avLst/>
          </a:prstGeom>
          <a:solidFill>
            <a:srgbClr val="0B7A75"/>
          </a:solidFill>
          <a:ln/>
        </p:spPr>
      </p:sp>
      <p:sp>
        <p:nvSpPr>
          <p:cNvPr id="8" name="Text 6"/>
          <p:cNvSpPr/>
          <p:nvPr/>
        </p:nvSpPr>
        <p:spPr>
          <a:xfrm>
            <a:off x="457200" y="2560320"/>
            <a:ext cx="7315200" cy="411480"/>
          </a:xfrm>
          <a:prstGeom prst="rect">
            <a:avLst/>
          </a:prstGeom>
          <a:noFill/>
          <a:ln/>
        </p:spPr>
        <p:txBody>
          <a:bodyPr wrap="square"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A Behavioral Analytics Security Engine  |  Pure Java Implementation</a:t>
            </a:r>
            <a:endParaRPr lang="en-US" sz="1400" dirty="0"/>
          </a:p>
        </p:txBody>
      </p:sp>
      <p:sp>
        <p:nvSpPr>
          <p:cNvPr id="9" name="Shape 7"/>
          <p:cNvSpPr/>
          <p:nvPr/>
        </p:nvSpPr>
        <p:spPr>
          <a:xfrm>
            <a:off x="457200" y="3108960"/>
            <a:ext cx="1920240" cy="347472"/>
          </a:xfrm>
          <a:prstGeom prst="rect">
            <a:avLst>
              <a:gd name="adj" fmla="val 15789"/>
            </a:avLst>
          </a:prstGeom>
          <a:solidFill>
            <a:srgbClr val="0B7A75">
              <a:alpha val="70000"/>
            </a:srgbClr>
          </a:solidFill>
          <a:ln/>
        </p:spPr>
      </p:sp>
      <p:sp>
        <p:nvSpPr>
          <p:cNvPr id="10" name="Text 8"/>
          <p:cNvSpPr/>
          <p:nvPr/>
        </p:nvSpPr>
        <p:spPr>
          <a:xfrm>
            <a:off x="457200" y="3108960"/>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Softmax Weighting</a:t>
            </a:r>
            <a:endParaRPr lang="en-US" sz="1000" dirty="0"/>
          </a:p>
        </p:txBody>
      </p:sp>
      <p:sp>
        <p:nvSpPr>
          <p:cNvPr id="11" name="Shape 9"/>
          <p:cNvSpPr/>
          <p:nvPr/>
        </p:nvSpPr>
        <p:spPr>
          <a:xfrm>
            <a:off x="2606040" y="3108960"/>
            <a:ext cx="1920240" cy="347472"/>
          </a:xfrm>
          <a:prstGeom prst="rect">
            <a:avLst>
              <a:gd name="adj" fmla="val 15789"/>
            </a:avLst>
          </a:prstGeom>
          <a:solidFill>
            <a:srgbClr val="0B7A75">
              <a:alpha val="70000"/>
            </a:srgbClr>
          </a:solidFill>
          <a:ln/>
        </p:spPr>
      </p:sp>
      <p:sp>
        <p:nvSpPr>
          <p:cNvPr id="12" name="Text 10"/>
          <p:cNvSpPr/>
          <p:nvPr/>
        </p:nvSpPr>
        <p:spPr>
          <a:xfrm>
            <a:off x="2606040" y="3108960"/>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5-Dimensional Scoring</a:t>
            </a:r>
            <a:endParaRPr lang="en-US" sz="1000" dirty="0"/>
          </a:p>
        </p:txBody>
      </p:sp>
      <p:sp>
        <p:nvSpPr>
          <p:cNvPr id="13" name="Shape 11"/>
          <p:cNvSpPr/>
          <p:nvPr/>
        </p:nvSpPr>
        <p:spPr>
          <a:xfrm>
            <a:off x="4754880" y="3108960"/>
            <a:ext cx="1920240" cy="347472"/>
          </a:xfrm>
          <a:prstGeom prst="rect">
            <a:avLst>
              <a:gd name="adj" fmla="val 15789"/>
            </a:avLst>
          </a:prstGeom>
          <a:solidFill>
            <a:srgbClr val="0B7A75">
              <a:alpha val="70000"/>
            </a:srgbClr>
          </a:solidFill>
          <a:ln/>
        </p:spPr>
      </p:sp>
      <p:sp>
        <p:nvSpPr>
          <p:cNvPr id="14" name="Text 12"/>
          <p:cNvSpPr/>
          <p:nvPr/>
        </p:nvSpPr>
        <p:spPr>
          <a:xfrm>
            <a:off x="4754880" y="3108960"/>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Risk Classification</a:t>
            </a:r>
            <a:endParaRPr lang="en-US" sz="1000" dirty="0"/>
          </a:p>
        </p:txBody>
      </p:sp>
      <p:sp>
        <p:nvSpPr>
          <p:cNvPr id="15" name="Shape 13"/>
          <p:cNvSpPr/>
          <p:nvPr/>
        </p:nvSpPr>
        <p:spPr>
          <a:xfrm>
            <a:off x="6903720" y="3108960"/>
            <a:ext cx="1920240" cy="347472"/>
          </a:xfrm>
          <a:prstGeom prst="rect">
            <a:avLst>
              <a:gd name="adj" fmla="val 15789"/>
            </a:avLst>
          </a:prstGeom>
          <a:solidFill>
            <a:srgbClr val="0B7A75">
              <a:alpha val="70000"/>
            </a:srgbClr>
          </a:solidFill>
          <a:ln/>
        </p:spPr>
      </p:sp>
      <p:sp>
        <p:nvSpPr>
          <p:cNvPr id="16" name="Text 14"/>
          <p:cNvSpPr/>
          <p:nvPr/>
        </p:nvSpPr>
        <p:spPr>
          <a:xfrm>
            <a:off x="6903720" y="3108960"/>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39 Test Cases</a:t>
            </a:r>
            <a:endParaRPr lang="en-US" sz="1000" dirty="0"/>
          </a:p>
        </p:txBody>
      </p:sp>
      <p:sp>
        <p:nvSpPr>
          <p:cNvPr id="17" name="Text 15"/>
          <p:cNvSpPr/>
          <p:nvPr/>
        </p:nvSpPr>
        <p:spPr>
          <a:xfrm>
            <a:off x="457200" y="4114800"/>
            <a:ext cx="8229600" cy="36576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Made by: </a:t>
            </a:r>
            <a:pPr indent="0" marL="0">
              <a:buNone/>
            </a:pPr>
            <a:r>
              <a:rPr lang="en-US" sz="1300" b="1" dirty="0">
                <a:solidFill>
                  <a:srgbClr val="FFFFFF"/>
                </a:solidFill>
                <a:latin typeface="Calibri" pitchFamily="34" charset="0"/>
                <a:ea typeface="Calibri" pitchFamily="34" charset="-122"/>
                <a:cs typeface="Calibri" pitchFamily="34" charset="-120"/>
              </a:rPr>
              <a:t>Arshit  S25CSEU1033    ·    Sparsh  S25CSEU1035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PROBLEM STATEMENT</a:t>
            </a:r>
            <a:endParaRPr lang="en-US" sz="2000" dirty="0"/>
          </a:p>
        </p:txBody>
      </p:sp>
      <p:sp>
        <p:nvSpPr>
          <p:cNvPr id="4" name="Shape 2"/>
          <p:cNvSpPr/>
          <p:nvPr/>
        </p:nvSpPr>
        <p:spPr>
          <a:xfrm>
            <a:off x="228600" y="914400"/>
            <a:ext cx="4160520" cy="3566160"/>
          </a:xfrm>
          <a:prstGeom prst="rect">
            <a:avLst>
              <a:gd name="adj" fmla="val 2051"/>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228600" y="914400"/>
            <a:ext cx="109728" cy="3566160"/>
          </a:xfrm>
          <a:prstGeom prst="rect">
            <a:avLst/>
          </a:prstGeom>
          <a:solidFill>
            <a:srgbClr val="DC2626"/>
          </a:solidFill>
          <a:ln/>
        </p:spPr>
      </p:sp>
      <p:sp>
        <p:nvSpPr>
          <p:cNvPr id="6" name="Text 4"/>
          <p:cNvSpPr/>
          <p:nvPr/>
        </p:nvSpPr>
        <p:spPr>
          <a:xfrm>
            <a:off x="457200" y="1005840"/>
            <a:ext cx="3749040" cy="384048"/>
          </a:xfrm>
          <a:prstGeom prst="rect">
            <a:avLst/>
          </a:prstGeom>
          <a:noFill/>
          <a:ln/>
        </p:spPr>
        <p:txBody>
          <a:bodyPr wrap="square" rtlCol="0" anchor="ctr"/>
          <a:lstStyle/>
          <a:p>
            <a:pPr indent="0" marL="0">
              <a:buNone/>
            </a:pPr>
            <a:r>
              <a:rPr lang="en-US" sz="1700" b="1" dirty="0">
                <a:solidFill>
                  <a:srgbClr val="0D1B2A"/>
                </a:solidFill>
                <a:latin typeface="Calibri" pitchFamily="34" charset="0"/>
                <a:ea typeface="Calibri" pitchFamily="34" charset="-122"/>
                <a:cs typeface="Calibri" pitchFamily="34" charset="-120"/>
              </a:rPr>
              <a:t>The Security Gap</a:t>
            </a:r>
            <a:endParaRPr lang="en-US" sz="1700" dirty="0"/>
          </a:p>
        </p:txBody>
      </p:sp>
      <p:sp>
        <p:nvSpPr>
          <p:cNvPr id="7" name="Text 5"/>
          <p:cNvSpPr/>
          <p:nvPr/>
        </p:nvSpPr>
        <p:spPr>
          <a:xfrm>
            <a:off x="457200" y="1481328"/>
            <a:ext cx="3749040" cy="2834640"/>
          </a:xfrm>
          <a:prstGeom prst="rect">
            <a:avLst/>
          </a:prstGeom>
          <a:noFill/>
          <a:ln/>
        </p:spPr>
        <p:txBody>
          <a:bodyPr wrap="square" rtlCol="0" anchor="t"/>
          <a:lstStyle/>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Traditional systems only verify WHO you are — not HOW you behave</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Password-only authentication fails against credential stuffing &amp; account takeover</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Static rule-based systems cannot adapt to evolving attack patterns</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No explainability — users blocked without reason</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High false-positive rates frustrate legitimate users</a:t>
            </a:r>
            <a:endParaRPr lang="en-US" sz="1300" dirty="0"/>
          </a:p>
        </p:txBody>
      </p:sp>
      <p:sp>
        <p:nvSpPr>
          <p:cNvPr id="8" name="Shape 6"/>
          <p:cNvSpPr/>
          <p:nvPr/>
        </p:nvSpPr>
        <p:spPr>
          <a:xfrm>
            <a:off x="4663440" y="914400"/>
            <a:ext cx="4251960" cy="3566160"/>
          </a:xfrm>
          <a:prstGeom prst="rect">
            <a:avLst>
              <a:gd name="adj" fmla="val 2051"/>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4663440" y="914400"/>
            <a:ext cx="109728" cy="3566160"/>
          </a:xfrm>
          <a:prstGeom prst="rect">
            <a:avLst/>
          </a:prstGeom>
          <a:solidFill>
            <a:srgbClr val="0B7A75"/>
          </a:solidFill>
          <a:ln/>
        </p:spPr>
      </p:sp>
      <p:sp>
        <p:nvSpPr>
          <p:cNvPr id="10" name="Text 8"/>
          <p:cNvSpPr/>
          <p:nvPr/>
        </p:nvSpPr>
        <p:spPr>
          <a:xfrm>
            <a:off x="4892040" y="1005840"/>
            <a:ext cx="3749040" cy="384048"/>
          </a:xfrm>
          <a:prstGeom prst="rect">
            <a:avLst/>
          </a:prstGeom>
          <a:noFill/>
          <a:ln/>
        </p:spPr>
        <p:txBody>
          <a:bodyPr wrap="square" rtlCol="0" anchor="ctr"/>
          <a:lstStyle/>
          <a:p>
            <a:pPr indent="0" marL="0">
              <a:buNone/>
            </a:pPr>
            <a:r>
              <a:rPr lang="en-US" sz="1700" b="1" dirty="0">
                <a:solidFill>
                  <a:srgbClr val="0D1B2A"/>
                </a:solidFill>
                <a:latin typeface="Calibri" pitchFamily="34" charset="0"/>
                <a:ea typeface="Calibri" pitchFamily="34" charset="-122"/>
                <a:cs typeface="Calibri" pitchFamily="34" charset="-120"/>
              </a:rPr>
              <a:t>Our Solution</a:t>
            </a:r>
            <a:endParaRPr lang="en-US" sz="1700" dirty="0"/>
          </a:p>
        </p:txBody>
      </p:sp>
      <p:sp>
        <p:nvSpPr>
          <p:cNvPr id="11" name="Text 9"/>
          <p:cNvSpPr/>
          <p:nvPr/>
        </p:nvSpPr>
        <p:spPr>
          <a:xfrm>
            <a:off x="4892040" y="1481328"/>
            <a:ext cx="3749040" cy="2834640"/>
          </a:xfrm>
          <a:prstGeom prst="rect">
            <a:avLst/>
          </a:prstGeom>
          <a:noFill/>
          <a:ln/>
        </p:spPr>
        <p:txBody>
          <a:bodyPr wrap="square" rtlCol="0" anchor="t"/>
          <a:lstStyle/>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Behavioral confidence scoring — analyze HOW credentials are used</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5 independent scoring dimensions provide holistic risk view</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Softmax Dynamic Weighting — self-calibrating, adaptive engine</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Every decision is explainable with contributing factors</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Three-tier actions: ALLOW / STEP-UP / BLOCK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SYSTEM OVERVIEW</a:t>
            </a:r>
            <a:endParaRPr lang="en-US" sz="2000" dirty="0"/>
          </a:p>
        </p:txBody>
      </p:sp>
      <p:sp>
        <p:nvSpPr>
          <p:cNvPr id="4" name="Shape 2"/>
          <p:cNvSpPr/>
          <p:nvPr/>
        </p:nvSpPr>
        <p:spPr>
          <a:xfrm>
            <a:off x="182880" y="914400"/>
            <a:ext cx="1554480" cy="91440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5" name="Text 3"/>
          <p:cNvSpPr/>
          <p:nvPr/>
        </p:nvSpPr>
        <p:spPr>
          <a:xfrm>
            <a:off x="182880" y="914400"/>
            <a:ext cx="1554480"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Consistency</a:t>
            </a:r>
            <a:endParaRPr lang="en-US" sz="1100" dirty="0"/>
          </a:p>
        </p:txBody>
      </p:sp>
      <p:sp>
        <p:nvSpPr>
          <p:cNvPr id="6" name="Shape 4"/>
          <p:cNvSpPr/>
          <p:nvPr/>
        </p:nvSpPr>
        <p:spPr>
          <a:xfrm>
            <a:off x="1874520" y="914400"/>
            <a:ext cx="1554480" cy="91440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7" name="Text 5"/>
          <p:cNvSpPr/>
          <p:nvPr/>
        </p:nvSpPr>
        <p:spPr>
          <a:xfrm>
            <a:off x="1874520" y="914400"/>
            <a:ext cx="1554480"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Location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Consist.</a:t>
            </a:r>
            <a:endParaRPr lang="en-US" sz="1100" dirty="0"/>
          </a:p>
        </p:txBody>
      </p:sp>
      <p:sp>
        <p:nvSpPr>
          <p:cNvPr id="8" name="Shape 6"/>
          <p:cNvSpPr/>
          <p:nvPr/>
        </p:nvSpPr>
        <p:spPr>
          <a:xfrm>
            <a:off x="3566160" y="914400"/>
            <a:ext cx="1554480" cy="91440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9" name="Text 7"/>
          <p:cNvSpPr/>
          <p:nvPr/>
        </p:nvSpPr>
        <p:spPr>
          <a:xfrm>
            <a:off x="3566160" y="914400"/>
            <a:ext cx="1554480"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Device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Stability</a:t>
            </a:r>
            <a:endParaRPr lang="en-US" sz="1100" dirty="0"/>
          </a:p>
        </p:txBody>
      </p:sp>
      <p:sp>
        <p:nvSpPr>
          <p:cNvPr id="10" name="Shape 8"/>
          <p:cNvSpPr/>
          <p:nvPr/>
        </p:nvSpPr>
        <p:spPr>
          <a:xfrm>
            <a:off x="5257800" y="914400"/>
            <a:ext cx="1554480" cy="91440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11" name="Text 9"/>
          <p:cNvSpPr/>
          <p:nvPr/>
        </p:nvSpPr>
        <p:spPr>
          <a:xfrm>
            <a:off x="5257800" y="914400"/>
            <a:ext cx="1554480"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Behavior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Frequency</a:t>
            </a:r>
            <a:endParaRPr lang="en-US" sz="1100" dirty="0"/>
          </a:p>
        </p:txBody>
      </p:sp>
      <p:sp>
        <p:nvSpPr>
          <p:cNvPr id="12" name="Shape 10"/>
          <p:cNvSpPr/>
          <p:nvPr/>
        </p:nvSpPr>
        <p:spPr>
          <a:xfrm>
            <a:off x="6949440" y="914400"/>
            <a:ext cx="1554480" cy="91440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13" name="Text 11"/>
          <p:cNvSpPr/>
          <p:nvPr/>
        </p:nvSpPr>
        <p:spPr>
          <a:xfrm>
            <a:off x="6949440" y="914400"/>
            <a:ext cx="1554480"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Failed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Attempts</a:t>
            </a:r>
            <a:endParaRPr lang="en-US" sz="1100" dirty="0"/>
          </a:p>
        </p:txBody>
      </p:sp>
      <p:sp>
        <p:nvSpPr>
          <p:cNvPr id="14" name="Shape 12"/>
          <p:cNvSpPr/>
          <p:nvPr/>
        </p:nvSpPr>
        <p:spPr>
          <a:xfrm>
            <a:off x="4206240" y="1920240"/>
            <a:ext cx="137160" cy="411480"/>
          </a:xfrm>
          <a:prstGeom prst="rect">
            <a:avLst/>
          </a:prstGeom>
          <a:solidFill>
            <a:srgbClr val="475569"/>
          </a:solidFill>
          <a:ln/>
        </p:spPr>
      </p:sp>
      <p:sp>
        <p:nvSpPr>
          <p:cNvPr id="15" name="Text 13"/>
          <p:cNvSpPr/>
          <p:nvPr/>
        </p:nvSpPr>
        <p:spPr>
          <a:xfrm>
            <a:off x="4023360" y="2286000"/>
            <a:ext cx="548640" cy="274320"/>
          </a:xfrm>
          <a:prstGeom prst="rect">
            <a:avLst/>
          </a:prstGeom>
          <a:noFill/>
          <a:ln/>
        </p:spPr>
        <p:txBody>
          <a:bodyPr wrap="square" rtlCol="0" anchor="ctr"/>
          <a:lstStyle/>
          <a:p>
            <a:pPr algn="ctr" indent="0" marL="0">
              <a:buNone/>
            </a:pPr>
            <a:r>
              <a:rPr lang="en-US" sz="1400" dirty="0">
                <a:solidFill>
                  <a:srgbClr val="475569"/>
                </a:solidFill>
              </a:rPr>
              <a:t>▼</a:t>
            </a:r>
            <a:endParaRPr lang="en-US" sz="1400" dirty="0"/>
          </a:p>
        </p:txBody>
      </p:sp>
      <p:sp>
        <p:nvSpPr>
          <p:cNvPr id="16" name="Shape 14"/>
          <p:cNvSpPr/>
          <p:nvPr/>
        </p:nvSpPr>
        <p:spPr>
          <a:xfrm>
            <a:off x="2011680" y="2606040"/>
            <a:ext cx="4937760" cy="685800"/>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17" name="Text 15"/>
          <p:cNvSpPr/>
          <p:nvPr/>
        </p:nvSpPr>
        <p:spPr>
          <a:xfrm>
            <a:off x="2011680" y="2606040"/>
            <a:ext cx="4937760" cy="685800"/>
          </a:xfrm>
          <a:prstGeom prst="rect">
            <a:avLst/>
          </a:prstGeom>
          <a:noFill/>
          <a:ln/>
        </p:spPr>
        <p:txBody>
          <a:bodyPr wrap="square" rtlCol="0" anchor="ctr"/>
          <a:lstStyle/>
          <a:p>
            <a:pPr algn="ctr" indent="0" marL="0">
              <a:buNone/>
            </a:pPr>
            <a:r>
              <a:rPr lang="en-US" sz="1500" b="1" dirty="0">
                <a:solidFill>
                  <a:srgbClr val="5EEAD4"/>
                </a:solidFill>
                <a:latin typeface="Calibri" pitchFamily="34" charset="0"/>
                <a:ea typeface="Calibri" pitchFamily="34" charset="-122"/>
                <a:cs typeface="Calibri" pitchFamily="34" charset="-120"/>
              </a:rPr>
              <a:t>⚙  SOFTMAX DYNAMIC WEIGHTING ENGINE</a:t>
            </a:r>
            <a:endParaRPr lang="en-US" sz="1500" dirty="0"/>
          </a:p>
        </p:txBody>
      </p:sp>
      <p:sp>
        <p:nvSpPr>
          <p:cNvPr id="18" name="Text 16"/>
          <p:cNvSpPr/>
          <p:nvPr/>
        </p:nvSpPr>
        <p:spPr>
          <a:xfrm>
            <a:off x="4297680" y="3337560"/>
            <a:ext cx="457200" cy="274320"/>
          </a:xfrm>
          <a:prstGeom prst="rect">
            <a:avLst/>
          </a:prstGeom>
          <a:noFill/>
          <a:ln/>
        </p:spPr>
        <p:txBody>
          <a:bodyPr wrap="square" rtlCol="0" anchor="ctr"/>
          <a:lstStyle/>
          <a:p>
            <a:pPr algn="ctr" indent="0" marL="0">
              <a:buNone/>
            </a:pPr>
            <a:r>
              <a:rPr lang="en-US" sz="1400" dirty="0">
                <a:solidFill>
                  <a:srgbClr val="475569"/>
                </a:solidFill>
              </a:rPr>
              <a:t>▼</a:t>
            </a:r>
            <a:endParaRPr lang="en-US" sz="1400" dirty="0"/>
          </a:p>
        </p:txBody>
      </p:sp>
      <p:sp>
        <p:nvSpPr>
          <p:cNvPr id="19" name="Shape 17"/>
          <p:cNvSpPr/>
          <p:nvPr/>
        </p:nvSpPr>
        <p:spPr>
          <a:xfrm>
            <a:off x="2743200" y="3611880"/>
            <a:ext cx="3474720" cy="566928"/>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20" name="Text 18"/>
          <p:cNvSpPr/>
          <p:nvPr/>
        </p:nvSpPr>
        <p:spPr>
          <a:xfrm>
            <a:off x="2743200" y="3611880"/>
            <a:ext cx="347472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Confidence Score  (0 – 100)</a:t>
            </a:r>
            <a:endParaRPr lang="en-US" sz="1400" dirty="0"/>
          </a:p>
        </p:txBody>
      </p:sp>
      <p:sp>
        <p:nvSpPr>
          <p:cNvPr id="21" name="Text 19"/>
          <p:cNvSpPr/>
          <p:nvPr/>
        </p:nvSpPr>
        <p:spPr>
          <a:xfrm>
            <a:off x="4297680" y="4206240"/>
            <a:ext cx="457200" cy="274320"/>
          </a:xfrm>
          <a:prstGeom prst="rect">
            <a:avLst/>
          </a:prstGeom>
          <a:noFill/>
          <a:ln/>
        </p:spPr>
        <p:txBody>
          <a:bodyPr wrap="square" rtlCol="0" anchor="ctr"/>
          <a:lstStyle/>
          <a:p>
            <a:pPr algn="ctr" indent="0" marL="0">
              <a:buNone/>
            </a:pPr>
            <a:r>
              <a:rPr lang="en-US" sz="1400" dirty="0">
                <a:solidFill>
                  <a:srgbClr val="475569"/>
                </a:solidFill>
              </a:rPr>
              <a:t>▼</a:t>
            </a:r>
            <a:endParaRPr lang="en-US" sz="1400" dirty="0"/>
          </a:p>
        </p:txBody>
      </p:sp>
      <p:sp>
        <p:nvSpPr>
          <p:cNvPr id="22" name="Shape 20"/>
          <p:cNvSpPr/>
          <p:nvPr/>
        </p:nvSpPr>
        <p:spPr>
          <a:xfrm>
            <a:off x="548640" y="4498848"/>
            <a:ext cx="2560320" cy="475488"/>
          </a:xfrm>
          <a:prstGeom prst="rect">
            <a:avLst/>
          </a:prstGeom>
          <a:solidFill>
            <a:srgbClr val="059669"/>
          </a:solidFill>
          <a:ln/>
          <a:effectLst>
            <a:outerShdw sx="100000" sy="100000" kx="0" ky="0" algn="bl" rotWithShape="0" blurRad="101600" dist="38100" dir="8100000">
              <a:srgbClr val="000000">
                <a:alpha val="12000"/>
              </a:srgbClr>
            </a:outerShdw>
          </a:effectLst>
        </p:spPr>
      </p:sp>
      <p:sp>
        <p:nvSpPr>
          <p:cNvPr id="23" name="Text 21"/>
          <p:cNvSpPr/>
          <p:nvPr/>
        </p:nvSpPr>
        <p:spPr>
          <a:xfrm>
            <a:off x="548640" y="4498848"/>
            <a:ext cx="256032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LOW → ALLOW</a:t>
            </a:r>
            <a:endParaRPr lang="en-US" sz="1300" dirty="0"/>
          </a:p>
        </p:txBody>
      </p:sp>
      <p:sp>
        <p:nvSpPr>
          <p:cNvPr id="24" name="Shape 22"/>
          <p:cNvSpPr/>
          <p:nvPr/>
        </p:nvSpPr>
        <p:spPr>
          <a:xfrm>
            <a:off x="3383280" y="4498848"/>
            <a:ext cx="2560320" cy="475488"/>
          </a:xfrm>
          <a:prstGeom prst="rect">
            <a:avLst/>
          </a:prstGeom>
          <a:solidFill>
            <a:srgbClr val="D97706"/>
          </a:solidFill>
          <a:ln/>
          <a:effectLst>
            <a:outerShdw sx="100000" sy="100000" kx="0" ky="0" algn="bl" rotWithShape="0" blurRad="101600" dist="38100" dir="8100000">
              <a:srgbClr val="000000">
                <a:alpha val="12000"/>
              </a:srgbClr>
            </a:outerShdw>
          </a:effectLst>
        </p:spPr>
      </p:sp>
      <p:sp>
        <p:nvSpPr>
          <p:cNvPr id="25" name="Text 23"/>
          <p:cNvSpPr/>
          <p:nvPr/>
        </p:nvSpPr>
        <p:spPr>
          <a:xfrm>
            <a:off x="3383280" y="4498848"/>
            <a:ext cx="256032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 → STEP-UP</a:t>
            </a:r>
            <a:endParaRPr lang="en-US" sz="1300" dirty="0"/>
          </a:p>
        </p:txBody>
      </p:sp>
      <p:sp>
        <p:nvSpPr>
          <p:cNvPr id="26" name="Shape 24"/>
          <p:cNvSpPr/>
          <p:nvPr/>
        </p:nvSpPr>
        <p:spPr>
          <a:xfrm>
            <a:off x="6217920" y="4498848"/>
            <a:ext cx="2560320" cy="475488"/>
          </a:xfrm>
          <a:prstGeom prst="rect">
            <a:avLst/>
          </a:prstGeom>
          <a:solidFill>
            <a:srgbClr val="DC2626"/>
          </a:solidFill>
          <a:ln/>
          <a:effectLst>
            <a:outerShdw sx="100000" sy="100000" kx="0" ky="0" algn="bl" rotWithShape="0" blurRad="101600" dist="38100" dir="8100000">
              <a:srgbClr val="000000">
                <a:alpha val="12000"/>
              </a:srgbClr>
            </a:outerShdw>
          </a:effectLst>
        </p:spPr>
      </p:sp>
      <p:sp>
        <p:nvSpPr>
          <p:cNvPr id="27" name="Text 25"/>
          <p:cNvSpPr/>
          <p:nvPr/>
        </p:nvSpPr>
        <p:spPr>
          <a:xfrm>
            <a:off x="6217920" y="4498848"/>
            <a:ext cx="2560320"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HIGH → BLOCK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3-LAYER ARCHITECTURE</a:t>
            </a:r>
            <a:endParaRPr lang="en-US" sz="2000" dirty="0"/>
          </a:p>
        </p:txBody>
      </p:sp>
      <p:sp>
        <p:nvSpPr>
          <p:cNvPr id="4" name="Shape 2"/>
          <p:cNvSpPr/>
          <p:nvPr/>
        </p:nvSpPr>
        <p:spPr>
          <a:xfrm>
            <a:off x="182880" y="841248"/>
            <a:ext cx="8778240" cy="12984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182880" y="841248"/>
            <a:ext cx="457200" cy="1298448"/>
          </a:xfrm>
          <a:prstGeom prst="rect">
            <a:avLst/>
          </a:prstGeom>
          <a:solidFill>
            <a:srgbClr val="0B7A75"/>
          </a:solidFill>
          <a:ln/>
        </p:spPr>
      </p:sp>
      <p:sp>
        <p:nvSpPr>
          <p:cNvPr id="6" name="Text 4"/>
          <p:cNvSpPr/>
          <p:nvPr/>
        </p:nvSpPr>
        <p:spPr>
          <a:xfrm>
            <a:off x="182880" y="841248"/>
            <a:ext cx="457200" cy="129844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749808" y="914400"/>
            <a:ext cx="7955280" cy="320040"/>
          </a:xfrm>
          <a:prstGeom prst="rect">
            <a:avLst/>
          </a:prstGeom>
          <a:noFill/>
          <a:ln/>
        </p:spPr>
        <p:txBody>
          <a:bodyPr wrap="square" rtlCol="0" anchor="ctr"/>
          <a:lstStyle/>
          <a:p>
            <a:pPr indent="0" marL="0">
              <a:buNone/>
            </a:pPr>
            <a:r>
              <a:rPr lang="en-US" sz="1500" b="1" dirty="0">
                <a:solidFill>
                  <a:srgbClr val="0B7A75"/>
                </a:solidFill>
                <a:latin typeface="Calibri" pitchFamily="34" charset="0"/>
                <a:ea typeface="Calibri" pitchFamily="34" charset="-122"/>
                <a:cs typeface="Calibri" pitchFamily="34" charset="-120"/>
              </a:rPr>
              <a:t>Model Layer  (POJOs)</a:t>
            </a:r>
            <a:endParaRPr lang="en-US" sz="1500" dirty="0"/>
          </a:p>
        </p:txBody>
      </p:sp>
      <p:sp>
        <p:nvSpPr>
          <p:cNvPr id="8" name="Text 6"/>
          <p:cNvSpPr/>
          <p:nvPr/>
        </p:nvSpPr>
        <p:spPr>
          <a:xfrm>
            <a:off x="749808" y="1243584"/>
            <a:ext cx="7955280" cy="841248"/>
          </a:xfrm>
          <a:prstGeom prst="rect">
            <a:avLst/>
          </a:prstGeom>
          <a:noFill/>
          <a:ln/>
        </p:spPr>
        <p:txBody>
          <a:bodyPr wrap="square"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LoginEvent — captures all login context (time, IP, device, failures)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UserHistory — historical profile of legitimate user behavior</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ConfidenceScore — holds score + individual dimension breakdown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RiskDecision — final output with action + reasons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Built with Builder Pattern for clean, readable object creation</a:t>
            </a:r>
            <a:endParaRPr lang="en-US" sz="1100" dirty="0"/>
          </a:p>
        </p:txBody>
      </p:sp>
      <p:sp>
        <p:nvSpPr>
          <p:cNvPr id="9" name="Shape 7"/>
          <p:cNvSpPr/>
          <p:nvPr/>
        </p:nvSpPr>
        <p:spPr>
          <a:xfrm>
            <a:off x="182880" y="2231136"/>
            <a:ext cx="8778240" cy="12984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182880" y="2231136"/>
            <a:ext cx="457200" cy="1298448"/>
          </a:xfrm>
          <a:prstGeom prst="rect">
            <a:avLst/>
          </a:prstGeom>
          <a:solidFill>
            <a:srgbClr val="1B3A5C"/>
          </a:solidFill>
          <a:ln/>
        </p:spPr>
      </p:sp>
      <p:sp>
        <p:nvSpPr>
          <p:cNvPr id="11" name="Text 9"/>
          <p:cNvSpPr/>
          <p:nvPr/>
        </p:nvSpPr>
        <p:spPr>
          <a:xfrm>
            <a:off x="182880" y="2231136"/>
            <a:ext cx="457200" cy="129844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749808" y="2304288"/>
            <a:ext cx="7955280" cy="320040"/>
          </a:xfrm>
          <a:prstGeom prst="rect">
            <a:avLst/>
          </a:prstGeom>
          <a:noFill/>
          <a:ln/>
        </p:spPr>
        <p:txBody>
          <a:bodyPr wrap="square" rtlCol="0" anchor="ctr"/>
          <a:lstStyle/>
          <a:p>
            <a:pPr indent="0" marL="0">
              <a:buNone/>
            </a:pPr>
            <a:r>
              <a:rPr lang="en-US" sz="1500" b="1" dirty="0">
                <a:solidFill>
                  <a:srgbClr val="1B3A5C"/>
                </a:solidFill>
                <a:latin typeface="Calibri" pitchFamily="34" charset="0"/>
                <a:ea typeface="Calibri" pitchFamily="34" charset="-122"/>
                <a:cs typeface="Calibri" pitchFamily="34" charset="-120"/>
              </a:rPr>
              <a:t>Scoring Layer  (Strategy Pattern)</a:t>
            </a:r>
            <a:endParaRPr lang="en-US" sz="1500" dirty="0"/>
          </a:p>
        </p:txBody>
      </p:sp>
      <p:sp>
        <p:nvSpPr>
          <p:cNvPr id="13" name="Text 11"/>
          <p:cNvSpPr/>
          <p:nvPr/>
        </p:nvSpPr>
        <p:spPr>
          <a:xfrm>
            <a:off x="749808" y="2633472"/>
            <a:ext cx="7955280" cy="841248"/>
          </a:xfrm>
          <a:prstGeom prst="rect">
            <a:avLst/>
          </a:prstGeom>
          <a:noFill/>
          <a:ln/>
        </p:spPr>
        <p:txBody>
          <a:bodyPr wrap="square"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TimeConsistencyScorer — Gaussian distribution over historical hours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LocationConsistencyScorer — Exponential distance decay from known IPs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DeviceStabilityScorer — Known device frequency probability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BehaviorFrequencyScorer — Coefficient of variation on login frequency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FailedAttemptsScorer — Exponential penalty for failed logins</a:t>
            </a:r>
            <a:endParaRPr lang="en-US" sz="1100" dirty="0"/>
          </a:p>
        </p:txBody>
      </p:sp>
      <p:sp>
        <p:nvSpPr>
          <p:cNvPr id="14" name="Shape 12"/>
          <p:cNvSpPr/>
          <p:nvPr/>
        </p:nvSpPr>
        <p:spPr>
          <a:xfrm>
            <a:off x="182880" y="3621024"/>
            <a:ext cx="8778240" cy="12984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Shape 13"/>
          <p:cNvSpPr/>
          <p:nvPr/>
        </p:nvSpPr>
        <p:spPr>
          <a:xfrm>
            <a:off x="182880" y="3621024"/>
            <a:ext cx="457200" cy="1298448"/>
          </a:xfrm>
          <a:prstGeom prst="rect">
            <a:avLst/>
          </a:prstGeom>
          <a:solidFill>
            <a:srgbClr val="0D1B2A"/>
          </a:solidFill>
          <a:ln/>
        </p:spPr>
      </p:sp>
      <p:sp>
        <p:nvSpPr>
          <p:cNvPr id="16" name="Text 14"/>
          <p:cNvSpPr/>
          <p:nvPr/>
        </p:nvSpPr>
        <p:spPr>
          <a:xfrm>
            <a:off x="182880" y="3621024"/>
            <a:ext cx="457200" cy="129844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749808" y="3694176"/>
            <a:ext cx="7955280" cy="320040"/>
          </a:xfrm>
          <a:prstGeom prst="rect">
            <a:avLst/>
          </a:prstGeom>
          <a:noFill/>
          <a:ln/>
        </p:spPr>
        <p:txBody>
          <a:bodyPr wrap="square"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Engine Layer  (Orchestration)</a:t>
            </a:r>
            <a:endParaRPr lang="en-US" sz="1500" dirty="0"/>
          </a:p>
        </p:txBody>
      </p:sp>
      <p:sp>
        <p:nvSpPr>
          <p:cNvPr id="18" name="Text 16"/>
          <p:cNvSpPr/>
          <p:nvPr/>
        </p:nvSpPr>
        <p:spPr>
          <a:xfrm>
            <a:off x="749808" y="4023360"/>
            <a:ext cx="7955280" cy="841248"/>
          </a:xfrm>
          <a:prstGeom prst="rect">
            <a:avLst/>
          </a:prstGeom>
          <a:noFill/>
          <a:ln/>
        </p:spPr>
        <p:txBody>
          <a:bodyPr wrap="square" rtlCol="0" anchor="ctr"/>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ConfidenceScoringEngine — collects scores from all applicable scorers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SoftmaxWeightingEngine — computes adaptive W_i = e^(r_i) / Σ e^(r_j)</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RiskClassifier — maps score range to LOW / MEDIUM / HIGH</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ActionEngine — produces final ALLOW / STEP-UP / BLOCK decision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7A75"/>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KEY INNOVATION  ·  Softmax Dynamic Weighting</a:t>
            </a:r>
            <a:endParaRPr lang="en-US" sz="2000" dirty="0"/>
          </a:p>
        </p:txBody>
      </p:sp>
      <p:sp>
        <p:nvSpPr>
          <p:cNvPr id="4" name="Shape 2"/>
          <p:cNvSpPr/>
          <p:nvPr/>
        </p:nvSpPr>
        <p:spPr>
          <a:xfrm>
            <a:off x="228600" y="914400"/>
            <a:ext cx="4160520" cy="114300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5" name="Text 3"/>
          <p:cNvSpPr/>
          <p:nvPr/>
        </p:nvSpPr>
        <p:spPr>
          <a:xfrm>
            <a:off x="320040" y="960120"/>
            <a:ext cx="3977640" cy="347472"/>
          </a:xfrm>
          <a:prstGeom prst="rect">
            <a:avLst/>
          </a:prstGeom>
          <a:noFill/>
          <a:ln/>
        </p:spPr>
        <p:txBody>
          <a:bodyPr wrap="square"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Weight Formula</a:t>
            </a:r>
            <a:endParaRPr lang="en-US" sz="1400" dirty="0"/>
          </a:p>
        </p:txBody>
      </p:sp>
      <p:sp>
        <p:nvSpPr>
          <p:cNvPr id="6" name="Text 4"/>
          <p:cNvSpPr/>
          <p:nvPr/>
        </p:nvSpPr>
        <p:spPr>
          <a:xfrm>
            <a:off x="320040" y="1298448"/>
            <a:ext cx="3977640" cy="658368"/>
          </a:xfrm>
          <a:prstGeom prst="rect">
            <a:avLst/>
          </a:prstGeom>
          <a:noFill/>
          <a:ln/>
        </p:spPr>
        <p:txBody>
          <a:bodyPr wrap="square" rtlCol="0" anchor="ctr"/>
          <a:lstStyle/>
          <a:p>
            <a:pPr algn="ctr" indent="0" marL="0">
              <a:buNone/>
            </a:pPr>
            <a:r>
              <a:rPr lang="en-US" sz="1900" b="1" dirty="0">
                <a:solidFill>
                  <a:srgbClr val="FFFFFF"/>
                </a:solidFill>
                <a:latin typeface="Consolas" pitchFamily="34" charset="0"/>
                <a:ea typeface="Consolas" pitchFamily="34" charset="-122"/>
                <a:cs typeface="Consolas" pitchFamily="34" charset="-120"/>
              </a:rPr>
              <a:t>W  =  e^(r_i)  /  Σ e^(r_j)</a:t>
            </a:r>
            <a:endParaRPr lang="en-US" sz="1900" dirty="0"/>
          </a:p>
        </p:txBody>
      </p:sp>
      <p:sp>
        <p:nvSpPr>
          <p:cNvPr id="7" name="Shape 5"/>
          <p:cNvSpPr/>
          <p:nvPr/>
        </p:nvSpPr>
        <p:spPr>
          <a:xfrm>
            <a:off x="4663440" y="914400"/>
            <a:ext cx="4251960" cy="114300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8" name="Text 6"/>
          <p:cNvSpPr/>
          <p:nvPr/>
        </p:nvSpPr>
        <p:spPr>
          <a:xfrm>
            <a:off x="4754880" y="960120"/>
            <a:ext cx="4069080" cy="347472"/>
          </a:xfrm>
          <a:prstGeom prst="rect">
            <a:avLst/>
          </a:prstGeom>
          <a:noFill/>
          <a:ln/>
        </p:spPr>
        <p:txBody>
          <a:bodyPr wrap="square"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Final Score Formula</a:t>
            </a:r>
            <a:endParaRPr lang="en-US" sz="1400" dirty="0"/>
          </a:p>
        </p:txBody>
      </p:sp>
      <p:sp>
        <p:nvSpPr>
          <p:cNvPr id="9" name="Text 7"/>
          <p:cNvSpPr/>
          <p:nvPr/>
        </p:nvSpPr>
        <p:spPr>
          <a:xfrm>
            <a:off x="4754880" y="1298448"/>
            <a:ext cx="4069080" cy="658368"/>
          </a:xfrm>
          <a:prstGeom prst="rect">
            <a:avLst/>
          </a:prstGeom>
          <a:noFill/>
          <a:ln/>
        </p:spPr>
        <p:txBody>
          <a:bodyPr wrap="square" rtlCol="0" anchor="ctr"/>
          <a:lstStyle/>
          <a:p>
            <a:pPr algn="ctr" indent="0" marL="0">
              <a:buNone/>
            </a:pPr>
            <a:r>
              <a:rPr lang="en-US" sz="1900" b="1" dirty="0">
                <a:solidFill>
                  <a:srgbClr val="FFFFFF"/>
                </a:solidFill>
                <a:latin typeface="Consolas" pitchFamily="34" charset="0"/>
                <a:ea typeface="Consolas" pitchFamily="34" charset="-122"/>
                <a:cs typeface="Consolas" pitchFamily="34" charset="-120"/>
              </a:rPr>
              <a:t>Score  =  Σ ( W_i  ×  S_i )</a:t>
            </a:r>
            <a:endParaRPr lang="en-US" sz="1900" dirty="0"/>
          </a:p>
        </p:txBody>
      </p:sp>
      <p:sp>
        <p:nvSpPr>
          <p:cNvPr id="10" name="Shape 8"/>
          <p:cNvSpPr/>
          <p:nvPr/>
        </p:nvSpPr>
        <p:spPr>
          <a:xfrm>
            <a:off x="228600" y="2240280"/>
            <a:ext cx="2011680" cy="393192"/>
          </a:xfrm>
          <a:prstGeom prst="rect">
            <a:avLst/>
          </a:prstGeom>
          <a:solidFill>
            <a:srgbClr val="0B7A75"/>
          </a:solidFill>
          <a:ln w="12700">
            <a:solidFill>
              <a:srgbClr val="1E3A5F"/>
            </a:solidFill>
            <a:prstDash val="solid"/>
          </a:ln>
        </p:spPr>
      </p:sp>
      <p:sp>
        <p:nvSpPr>
          <p:cNvPr id="11" name="Text 9"/>
          <p:cNvSpPr/>
          <p:nvPr/>
        </p:nvSpPr>
        <p:spPr>
          <a:xfrm>
            <a:off x="283464" y="2240280"/>
            <a:ext cx="1920240" cy="39319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p>
        </p:txBody>
      </p:sp>
      <p:sp>
        <p:nvSpPr>
          <p:cNvPr id="12" name="Shape 10"/>
          <p:cNvSpPr/>
          <p:nvPr/>
        </p:nvSpPr>
        <p:spPr>
          <a:xfrm>
            <a:off x="2240280" y="2240280"/>
            <a:ext cx="2926080" cy="393192"/>
          </a:xfrm>
          <a:prstGeom prst="rect">
            <a:avLst/>
          </a:prstGeom>
          <a:solidFill>
            <a:srgbClr val="0B7A75"/>
          </a:solidFill>
          <a:ln w="12700">
            <a:solidFill>
              <a:srgbClr val="1E3A5F"/>
            </a:solidFill>
            <a:prstDash val="solid"/>
          </a:ln>
        </p:spPr>
      </p:sp>
      <p:sp>
        <p:nvSpPr>
          <p:cNvPr id="13" name="Text 11"/>
          <p:cNvSpPr/>
          <p:nvPr/>
        </p:nvSpPr>
        <p:spPr>
          <a:xfrm>
            <a:off x="2295144" y="2240280"/>
            <a:ext cx="2834640" cy="39319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Static Weights</a:t>
            </a:r>
            <a:endParaRPr lang="en-US" sz="1050" dirty="0"/>
          </a:p>
        </p:txBody>
      </p:sp>
      <p:sp>
        <p:nvSpPr>
          <p:cNvPr id="14" name="Shape 12"/>
          <p:cNvSpPr/>
          <p:nvPr/>
        </p:nvSpPr>
        <p:spPr>
          <a:xfrm>
            <a:off x="5166360" y="2240280"/>
            <a:ext cx="3566160" cy="393192"/>
          </a:xfrm>
          <a:prstGeom prst="rect">
            <a:avLst/>
          </a:prstGeom>
          <a:solidFill>
            <a:srgbClr val="0B7A75"/>
          </a:solidFill>
          <a:ln w="12700">
            <a:solidFill>
              <a:srgbClr val="1E3A5F"/>
            </a:solidFill>
            <a:prstDash val="solid"/>
          </a:ln>
        </p:spPr>
      </p:sp>
      <p:sp>
        <p:nvSpPr>
          <p:cNvPr id="15" name="Text 13"/>
          <p:cNvSpPr/>
          <p:nvPr/>
        </p:nvSpPr>
        <p:spPr>
          <a:xfrm>
            <a:off x="5221224" y="2240280"/>
            <a:ext cx="3474720" cy="39319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Softmax Weighting (Ours)</a:t>
            </a:r>
            <a:endParaRPr lang="en-US" sz="1050" dirty="0"/>
          </a:p>
        </p:txBody>
      </p:sp>
      <p:sp>
        <p:nvSpPr>
          <p:cNvPr id="16" name="Shape 14"/>
          <p:cNvSpPr/>
          <p:nvPr/>
        </p:nvSpPr>
        <p:spPr>
          <a:xfrm>
            <a:off x="228600" y="2642616"/>
            <a:ext cx="2011680" cy="393192"/>
          </a:xfrm>
          <a:prstGeom prst="rect">
            <a:avLst/>
          </a:prstGeom>
          <a:solidFill>
            <a:srgbClr val="1B3A5C"/>
          </a:solidFill>
          <a:ln w="12700">
            <a:solidFill>
              <a:srgbClr val="1E3A5F"/>
            </a:solidFill>
            <a:prstDash val="solid"/>
          </a:ln>
        </p:spPr>
      </p:sp>
      <p:sp>
        <p:nvSpPr>
          <p:cNvPr id="17" name="Text 15"/>
          <p:cNvSpPr/>
          <p:nvPr/>
        </p:nvSpPr>
        <p:spPr>
          <a:xfrm>
            <a:off x="283464" y="2642616"/>
            <a:ext cx="19202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Adaptability</a:t>
            </a:r>
            <a:endParaRPr lang="en-US" sz="1050" dirty="0"/>
          </a:p>
        </p:txBody>
      </p:sp>
      <p:sp>
        <p:nvSpPr>
          <p:cNvPr id="18" name="Shape 16"/>
          <p:cNvSpPr/>
          <p:nvPr/>
        </p:nvSpPr>
        <p:spPr>
          <a:xfrm>
            <a:off x="2240280" y="2642616"/>
            <a:ext cx="2926080" cy="393192"/>
          </a:xfrm>
          <a:prstGeom prst="rect">
            <a:avLst/>
          </a:prstGeom>
          <a:solidFill>
            <a:srgbClr val="1B3A5C"/>
          </a:solidFill>
          <a:ln w="12700">
            <a:solidFill>
              <a:srgbClr val="1E3A5F"/>
            </a:solidFill>
            <a:prstDash val="solid"/>
          </a:ln>
        </p:spPr>
      </p:sp>
      <p:sp>
        <p:nvSpPr>
          <p:cNvPr id="19" name="Text 17"/>
          <p:cNvSpPr/>
          <p:nvPr/>
        </p:nvSpPr>
        <p:spPr>
          <a:xfrm>
            <a:off x="2295144" y="2642616"/>
            <a:ext cx="28346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Fixed — never changes</a:t>
            </a:r>
            <a:endParaRPr lang="en-US" sz="1050" dirty="0"/>
          </a:p>
        </p:txBody>
      </p:sp>
      <p:sp>
        <p:nvSpPr>
          <p:cNvPr id="20" name="Shape 18"/>
          <p:cNvSpPr/>
          <p:nvPr/>
        </p:nvSpPr>
        <p:spPr>
          <a:xfrm>
            <a:off x="5166360" y="2642616"/>
            <a:ext cx="3566160" cy="393192"/>
          </a:xfrm>
          <a:prstGeom prst="rect">
            <a:avLst/>
          </a:prstGeom>
          <a:solidFill>
            <a:srgbClr val="0B3D2E"/>
          </a:solidFill>
          <a:ln w="12700">
            <a:solidFill>
              <a:srgbClr val="1E3A5F"/>
            </a:solidFill>
            <a:prstDash val="solid"/>
          </a:ln>
        </p:spPr>
      </p:sp>
      <p:sp>
        <p:nvSpPr>
          <p:cNvPr id="21" name="Text 19"/>
          <p:cNvSpPr/>
          <p:nvPr/>
        </p:nvSpPr>
        <p:spPr>
          <a:xfrm>
            <a:off x="5221224" y="2642616"/>
            <a:ext cx="3474720" cy="393192"/>
          </a:xfrm>
          <a:prstGeom prst="rect">
            <a:avLst/>
          </a:prstGeom>
          <a:noFill/>
          <a:ln/>
        </p:spPr>
        <p:txBody>
          <a:bodyPr wrap="square" rtlCol="0" anchor="ctr"/>
          <a:lstStyle/>
          <a:p>
            <a:pPr indent="0" marL="0">
              <a:buNone/>
            </a:pPr>
            <a:r>
              <a:rPr lang="en-US" sz="1050" dirty="0">
                <a:solidFill>
                  <a:srgbClr val="5EEAD4"/>
                </a:solidFill>
                <a:latin typeface="Calibri" pitchFamily="34" charset="0"/>
                <a:ea typeface="Calibri" pitchFamily="34" charset="-122"/>
                <a:cs typeface="Calibri" pitchFamily="34" charset="-120"/>
              </a:rPr>
              <a:t>Adapts per login event</a:t>
            </a:r>
            <a:endParaRPr lang="en-US" sz="1050" dirty="0"/>
          </a:p>
        </p:txBody>
      </p:sp>
      <p:sp>
        <p:nvSpPr>
          <p:cNvPr id="22" name="Shape 20"/>
          <p:cNvSpPr/>
          <p:nvPr/>
        </p:nvSpPr>
        <p:spPr>
          <a:xfrm>
            <a:off x="228600" y="3044952"/>
            <a:ext cx="2011680" cy="393192"/>
          </a:xfrm>
          <a:prstGeom prst="rect">
            <a:avLst/>
          </a:prstGeom>
          <a:solidFill>
            <a:srgbClr val="1B3A5C"/>
          </a:solidFill>
          <a:ln w="12700">
            <a:solidFill>
              <a:srgbClr val="1E3A5F"/>
            </a:solidFill>
            <a:prstDash val="solid"/>
          </a:ln>
        </p:spPr>
      </p:sp>
      <p:sp>
        <p:nvSpPr>
          <p:cNvPr id="23" name="Text 21"/>
          <p:cNvSpPr/>
          <p:nvPr/>
        </p:nvSpPr>
        <p:spPr>
          <a:xfrm>
            <a:off x="283464" y="3044952"/>
            <a:ext cx="19202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Missing Scorers</a:t>
            </a:r>
            <a:endParaRPr lang="en-US" sz="1050" dirty="0"/>
          </a:p>
        </p:txBody>
      </p:sp>
      <p:sp>
        <p:nvSpPr>
          <p:cNvPr id="24" name="Shape 22"/>
          <p:cNvSpPr/>
          <p:nvPr/>
        </p:nvSpPr>
        <p:spPr>
          <a:xfrm>
            <a:off x="2240280" y="3044952"/>
            <a:ext cx="2926080" cy="393192"/>
          </a:xfrm>
          <a:prstGeom prst="rect">
            <a:avLst/>
          </a:prstGeom>
          <a:solidFill>
            <a:srgbClr val="1B3A5C"/>
          </a:solidFill>
          <a:ln w="12700">
            <a:solidFill>
              <a:srgbClr val="1E3A5F"/>
            </a:solidFill>
            <a:prstDash val="solid"/>
          </a:ln>
        </p:spPr>
      </p:sp>
      <p:sp>
        <p:nvSpPr>
          <p:cNvPr id="25" name="Text 23"/>
          <p:cNvSpPr/>
          <p:nvPr/>
        </p:nvSpPr>
        <p:spPr>
          <a:xfrm>
            <a:off x="2295144" y="3044952"/>
            <a:ext cx="28346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Needs manual fix</a:t>
            </a:r>
            <a:endParaRPr lang="en-US" sz="1050" dirty="0"/>
          </a:p>
        </p:txBody>
      </p:sp>
      <p:sp>
        <p:nvSpPr>
          <p:cNvPr id="26" name="Shape 24"/>
          <p:cNvSpPr/>
          <p:nvPr/>
        </p:nvSpPr>
        <p:spPr>
          <a:xfrm>
            <a:off x="5166360" y="3044952"/>
            <a:ext cx="3566160" cy="393192"/>
          </a:xfrm>
          <a:prstGeom prst="rect">
            <a:avLst/>
          </a:prstGeom>
          <a:solidFill>
            <a:srgbClr val="0B3D2E"/>
          </a:solidFill>
          <a:ln w="12700">
            <a:solidFill>
              <a:srgbClr val="1E3A5F"/>
            </a:solidFill>
            <a:prstDash val="solid"/>
          </a:ln>
        </p:spPr>
      </p:sp>
      <p:sp>
        <p:nvSpPr>
          <p:cNvPr id="27" name="Text 25"/>
          <p:cNvSpPr/>
          <p:nvPr/>
        </p:nvSpPr>
        <p:spPr>
          <a:xfrm>
            <a:off x="5221224" y="3044952"/>
            <a:ext cx="3474720" cy="393192"/>
          </a:xfrm>
          <a:prstGeom prst="rect">
            <a:avLst/>
          </a:prstGeom>
          <a:noFill/>
          <a:ln/>
        </p:spPr>
        <p:txBody>
          <a:bodyPr wrap="square" rtlCol="0" anchor="ctr"/>
          <a:lstStyle/>
          <a:p>
            <a:pPr indent="0" marL="0">
              <a:buNone/>
            </a:pPr>
            <a:r>
              <a:rPr lang="en-US" sz="1050" dirty="0">
                <a:solidFill>
                  <a:srgbClr val="5EEAD4"/>
                </a:solidFill>
                <a:latin typeface="Calibri" pitchFamily="34" charset="0"/>
                <a:ea typeface="Calibri" pitchFamily="34" charset="-122"/>
                <a:cs typeface="Calibri" pitchFamily="34" charset="-120"/>
              </a:rPr>
              <a:t>Auto-normalizes weights to 1.0</a:t>
            </a:r>
            <a:endParaRPr lang="en-US" sz="1050" dirty="0"/>
          </a:p>
        </p:txBody>
      </p:sp>
      <p:sp>
        <p:nvSpPr>
          <p:cNvPr id="28" name="Shape 26"/>
          <p:cNvSpPr/>
          <p:nvPr/>
        </p:nvSpPr>
        <p:spPr>
          <a:xfrm>
            <a:off x="228600" y="3447288"/>
            <a:ext cx="2011680" cy="393192"/>
          </a:xfrm>
          <a:prstGeom prst="rect">
            <a:avLst/>
          </a:prstGeom>
          <a:solidFill>
            <a:srgbClr val="1B3A5C"/>
          </a:solidFill>
          <a:ln w="12700">
            <a:solidFill>
              <a:srgbClr val="1E3A5F"/>
            </a:solidFill>
            <a:prstDash val="solid"/>
          </a:ln>
        </p:spPr>
      </p:sp>
      <p:sp>
        <p:nvSpPr>
          <p:cNvPr id="29" name="Text 27"/>
          <p:cNvSpPr/>
          <p:nvPr/>
        </p:nvSpPr>
        <p:spPr>
          <a:xfrm>
            <a:off x="283464" y="3447288"/>
            <a:ext cx="19202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Self-Calibration</a:t>
            </a:r>
            <a:endParaRPr lang="en-US" sz="1050" dirty="0"/>
          </a:p>
        </p:txBody>
      </p:sp>
      <p:sp>
        <p:nvSpPr>
          <p:cNvPr id="30" name="Shape 28"/>
          <p:cNvSpPr/>
          <p:nvPr/>
        </p:nvSpPr>
        <p:spPr>
          <a:xfrm>
            <a:off x="2240280" y="3447288"/>
            <a:ext cx="2926080" cy="393192"/>
          </a:xfrm>
          <a:prstGeom prst="rect">
            <a:avLst/>
          </a:prstGeom>
          <a:solidFill>
            <a:srgbClr val="1B3A5C"/>
          </a:solidFill>
          <a:ln w="12700">
            <a:solidFill>
              <a:srgbClr val="1E3A5F"/>
            </a:solidFill>
            <a:prstDash val="solid"/>
          </a:ln>
        </p:spPr>
      </p:sp>
      <p:sp>
        <p:nvSpPr>
          <p:cNvPr id="31" name="Text 29"/>
          <p:cNvSpPr/>
          <p:nvPr/>
        </p:nvSpPr>
        <p:spPr>
          <a:xfrm>
            <a:off x="2295144" y="3447288"/>
            <a:ext cx="28346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Manual re-tuning</a:t>
            </a:r>
            <a:endParaRPr lang="en-US" sz="1050" dirty="0"/>
          </a:p>
        </p:txBody>
      </p:sp>
      <p:sp>
        <p:nvSpPr>
          <p:cNvPr id="32" name="Shape 30"/>
          <p:cNvSpPr/>
          <p:nvPr/>
        </p:nvSpPr>
        <p:spPr>
          <a:xfrm>
            <a:off x="5166360" y="3447288"/>
            <a:ext cx="3566160" cy="393192"/>
          </a:xfrm>
          <a:prstGeom prst="rect">
            <a:avLst/>
          </a:prstGeom>
          <a:solidFill>
            <a:srgbClr val="0B3D2E"/>
          </a:solidFill>
          <a:ln w="12700">
            <a:solidFill>
              <a:srgbClr val="1E3A5F"/>
            </a:solidFill>
            <a:prstDash val="solid"/>
          </a:ln>
        </p:spPr>
      </p:sp>
      <p:sp>
        <p:nvSpPr>
          <p:cNvPr id="33" name="Text 31"/>
          <p:cNvSpPr/>
          <p:nvPr/>
        </p:nvSpPr>
        <p:spPr>
          <a:xfrm>
            <a:off x="5221224" y="3447288"/>
            <a:ext cx="3474720" cy="393192"/>
          </a:xfrm>
          <a:prstGeom prst="rect">
            <a:avLst/>
          </a:prstGeom>
          <a:noFill/>
          <a:ln/>
        </p:spPr>
        <p:txBody>
          <a:bodyPr wrap="square" rtlCol="0" anchor="ctr"/>
          <a:lstStyle/>
          <a:p>
            <a:pPr indent="0" marL="0">
              <a:buNone/>
            </a:pPr>
            <a:r>
              <a:rPr lang="en-US" sz="1050" dirty="0">
                <a:solidFill>
                  <a:srgbClr val="5EEAD4"/>
                </a:solidFill>
                <a:latin typeface="Calibri" pitchFamily="34" charset="0"/>
                <a:ea typeface="Calibri" pitchFamily="34" charset="-122"/>
                <a:cs typeface="Calibri" pitchFamily="34" charset="-120"/>
              </a:rPr>
              <a:t>Automatic via exponential scaling</a:t>
            </a:r>
            <a:endParaRPr lang="en-US" sz="1050" dirty="0"/>
          </a:p>
        </p:txBody>
      </p:sp>
      <p:sp>
        <p:nvSpPr>
          <p:cNvPr id="34" name="Shape 32"/>
          <p:cNvSpPr/>
          <p:nvPr/>
        </p:nvSpPr>
        <p:spPr>
          <a:xfrm>
            <a:off x="228600" y="3849624"/>
            <a:ext cx="2011680" cy="393192"/>
          </a:xfrm>
          <a:prstGeom prst="rect">
            <a:avLst/>
          </a:prstGeom>
          <a:solidFill>
            <a:srgbClr val="1B3A5C"/>
          </a:solidFill>
          <a:ln w="12700">
            <a:solidFill>
              <a:srgbClr val="1E3A5F"/>
            </a:solidFill>
            <a:prstDash val="solid"/>
          </a:ln>
        </p:spPr>
      </p:sp>
      <p:sp>
        <p:nvSpPr>
          <p:cNvPr id="35" name="Text 33"/>
          <p:cNvSpPr/>
          <p:nvPr/>
        </p:nvSpPr>
        <p:spPr>
          <a:xfrm>
            <a:off x="283464" y="3849624"/>
            <a:ext cx="19202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Accuracy</a:t>
            </a:r>
            <a:endParaRPr lang="en-US" sz="1050" dirty="0"/>
          </a:p>
        </p:txBody>
      </p:sp>
      <p:sp>
        <p:nvSpPr>
          <p:cNvPr id="36" name="Shape 34"/>
          <p:cNvSpPr/>
          <p:nvPr/>
        </p:nvSpPr>
        <p:spPr>
          <a:xfrm>
            <a:off x="2240280" y="3849624"/>
            <a:ext cx="2926080" cy="393192"/>
          </a:xfrm>
          <a:prstGeom prst="rect">
            <a:avLst/>
          </a:prstGeom>
          <a:solidFill>
            <a:srgbClr val="1B3A5C"/>
          </a:solidFill>
          <a:ln w="12700">
            <a:solidFill>
              <a:srgbClr val="1E3A5F"/>
            </a:solidFill>
            <a:prstDash val="solid"/>
          </a:ln>
        </p:spPr>
      </p:sp>
      <p:sp>
        <p:nvSpPr>
          <p:cNvPr id="37" name="Text 35"/>
          <p:cNvSpPr/>
          <p:nvPr/>
        </p:nvSpPr>
        <p:spPr>
          <a:xfrm>
            <a:off x="2295144" y="3849624"/>
            <a:ext cx="28346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One-size-fits-all</a:t>
            </a:r>
            <a:endParaRPr lang="en-US" sz="1050" dirty="0"/>
          </a:p>
        </p:txBody>
      </p:sp>
      <p:sp>
        <p:nvSpPr>
          <p:cNvPr id="38" name="Shape 36"/>
          <p:cNvSpPr/>
          <p:nvPr/>
        </p:nvSpPr>
        <p:spPr>
          <a:xfrm>
            <a:off x="5166360" y="3849624"/>
            <a:ext cx="3566160" cy="393192"/>
          </a:xfrm>
          <a:prstGeom prst="rect">
            <a:avLst/>
          </a:prstGeom>
          <a:solidFill>
            <a:srgbClr val="0B3D2E"/>
          </a:solidFill>
          <a:ln w="12700">
            <a:solidFill>
              <a:srgbClr val="1E3A5F"/>
            </a:solidFill>
            <a:prstDash val="solid"/>
          </a:ln>
        </p:spPr>
      </p:sp>
      <p:sp>
        <p:nvSpPr>
          <p:cNvPr id="39" name="Text 37"/>
          <p:cNvSpPr/>
          <p:nvPr/>
        </p:nvSpPr>
        <p:spPr>
          <a:xfrm>
            <a:off x="5221224" y="3849624"/>
            <a:ext cx="3474720" cy="393192"/>
          </a:xfrm>
          <a:prstGeom prst="rect">
            <a:avLst/>
          </a:prstGeom>
          <a:noFill/>
          <a:ln/>
        </p:spPr>
        <p:txBody>
          <a:bodyPr wrap="square" rtlCol="0" anchor="ctr"/>
          <a:lstStyle/>
          <a:p>
            <a:pPr indent="0" marL="0">
              <a:buNone/>
            </a:pPr>
            <a:r>
              <a:rPr lang="en-US" sz="1050" dirty="0">
                <a:solidFill>
                  <a:srgbClr val="5EEAD4"/>
                </a:solidFill>
                <a:latin typeface="Calibri" pitchFamily="34" charset="0"/>
                <a:ea typeface="Calibri" pitchFamily="34" charset="-122"/>
                <a:cs typeface="Calibri" pitchFamily="34" charset="-120"/>
              </a:rPr>
              <a:t>Context-specific weighting</a:t>
            </a:r>
            <a:endParaRPr lang="en-US" sz="1050" dirty="0"/>
          </a:p>
        </p:txBody>
      </p:sp>
      <p:sp>
        <p:nvSpPr>
          <p:cNvPr id="40" name="Shape 38"/>
          <p:cNvSpPr/>
          <p:nvPr/>
        </p:nvSpPr>
        <p:spPr>
          <a:xfrm>
            <a:off x="228600" y="4251960"/>
            <a:ext cx="2011680" cy="393192"/>
          </a:xfrm>
          <a:prstGeom prst="rect">
            <a:avLst/>
          </a:prstGeom>
          <a:solidFill>
            <a:srgbClr val="1B3A5C"/>
          </a:solidFill>
          <a:ln w="12700">
            <a:solidFill>
              <a:srgbClr val="1E3A5F"/>
            </a:solidFill>
            <a:prstDash val="solid"/>
          </a:ln>
        </p:spPr>
      </p:sp>
      <p:sp>
        <p:nvSpPr>
          <p:cNvPr id="41" name="Text 39"/>
          <p:cNvSpPr/>
          <p:nvPr/>
        </p:nvSpPr>
        <p:spPr>
          <a:xfrm>
            <a:off x="283464" y="4251960"/>
            <a:ext cx="19202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Extensibility</a:t>
            </a:r>
            <a:endParaRPr lang="en-US" sz="1050" dirty="0"/>
          </a:p>
        </p:txBody>
      </p:sp>
      <p:sp>
        <p:nvSpPr>
          <p:cNvPr id="42" name="Shape 40"/>
          <p:cNvSpPr/>
          <p:nvPr/>
        </p:nvSpPr>
        <p:spPr>
          <a:xfrm>
            <a:off x="2240280" y="4251960"/>
            <a:ext cx="2926080" cy="393192"/>
          </a:xfrm>
          <a:prstGeom prst="rect">
            <a:avLst/>
          </a:prstGeom>
          <a:solidFill>
            <a:srgbClr val="1B3A5C"/>
          </a:solidFill>
          <a:ln w="12700">
            <a:solidFill>
              <a:srgbClr val="1E3A5F"/>
            </a:solidFill>
            <a:prstDash val="solid"/>
          </a:ln>
        </p:spPr>
      </p:sp>
      <p:sp>
        <p:nvSpPr>
          <p:cNvPr id="43" name="Text 41"/>
          <p:cNvSpPr/>
          <p:nvPr/>
        </p:nvSpPr>
        <p:spPr>
          <a:xfrm>
            <a:off x="2295144" y="4251960"/>
            <a:ext cx="2834640" cy="393192"/>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Add scorer → retune</a:t>
            </a:r>
            <a:endParaRPr lang="en-US" sz="1050" dirty="0"/>
          </a:p>
        </p:txBody>
      </p:sp>
      <p:sp>
        <p:nvSpPr>
          <p:cNvPr id="44" name="Shape 42"/>
          <p:cNvSpPr/>
          <p:nvPr/>
        </p:nvSpPr>
        <p:spPr>
          <a:xfrm>
            <a:off x="5166360" y="4251960"/>
            <a:ext cx="3566160" cy="393192"/>
          </a:xfrm>
          <a:prstGeom prst="rect">
            <a:avLst/>
          </a:prstGeom>
          <a:solidFill>
            <a:srgbClr val="0B3D2E"/>
          </a:solidFill>
          <a:ln w="12700">
            <a:solidFill>
              <a:srgbClr val="1E3A5F"/>
            </a:solidFill>
            <a:prstDash val="solid"/>
          </a:ln>
        </p:spPr>
      </p:sp>
      <p:sp>
        <p:nvSpPr>
          <p:cNvPr id="45" name="Text 43"/>
          <p:cNvSpPr/>
          <p:nvPr/>
        </p:nvSpPr>
        <p:spPr>
          <a:xfrm>
            <a:off x="5221224" y="4251960"/>
            <a:ext cx="3474720" cy="393192"/>
          </a:xfrm>
          <a:prstGeom prst="rect">
            <a:avLst/>
          </a:prstGeom>
          <a:noFill/>
          <a:ln/>
        </p:spPr>
        <p:txBody>
          <a:bodyPr wrap="square" rtlCol="0" anchor="ctr"/>
          <a:lstStyle/>
          <a:p>
            <a:pPr indent="0" marL="0">
              <a:buNone/>
            </a:pPr>
            <a:r>
              <a:rPr lang="en-US" sz="1050" dirty="0">
                <a:solidFill>
                  <a:srgbClr val="5EEAD4"/>
                </a:solidFill>
                <a:latin typeface="Calibri" pitchFamily="34" charset="0"/>
                <a:ea typeface="Calibri" pitchFamily="34" charset="-122"/>
                <a:cs typeface="Calibri" pitchFamily="34" charset="-120"/>
              </a:rPr>
              <a:t>Add scorer → auto-integrated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SCORING FORMULAS  —  5 Dimensions</a:t>
            </a:r>
            <a:endParaRPr lang="en-US" sz="2000" dirty="0"/>
          </a:p>
        </p:txBody>
      </p:sp>
      <p:sp>
        <p:nvSpPr>
          <p:cNvPr id="4" name="Shape 2"/>
          <p:cNvSpPr/>
          <p:nvPr/>
        </p:nvSpPr>
        <p:spPr>
          <a:xfrm>
            <a:off x="182880" y="868680"/>
            <a:ext cx="283464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182880" y="868680"/>
            <a:ext cx="411480" cy="1783080"/>
          </a:xfrm>
          <a:prstGeom prst="rect">
            <a:avLst/>
          </a:prstGeom>
          <a:solidFill>
            <a:srgbClr val="0B7A75"/>
          </a:solidFill>
          <a:ln/>
        </p:spPr>
      </p:sp>
      <p:sp>
        <p:nvSpPr>
          <p:cNvPr id="6" name="Text 4"/>
          <p:cNvSpPr/>
          <p:nvPr/>
        </p:nvSpPr>
        <p:spPr>
          <a:xfrm>
            <a:off x="182880" y="868680"/>
            <a:ext cx="411480" cy="1783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658368" y="960120"/>
            <a:ext cx="228600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Time Consistency</a:t>
            </a:r>
            <a:endParaRPr lang="en-US" sz="1300" dirty="0"/>
          </a:p>
        </p:txBody>
      </p:sp>
      <p:sp>
        <p:nvSpPr>
          <p:cNvPr id="8" name="Shape 6"/>
          <p:cNvSpPr/>
          <p:nvPr/>
        </p:nvSpPr>
        <p:spPr>
          <a:xfrm>
            <a:off x="658368" y="1307592"/>
            <a:ext cx="2240280" cy="402336"/>
          </a:xfrm>
          <a:prstGeom prst="rect">
            <a:avLst/>
          </a:prstGeom>
          <a:solidFill>
            <a:srgbClr val="F0F4F8"/>
          </a:solidFill>
          <a:ln/>
        </p:spPr>
      </p:sp>
      <p:sp>
        <p:nvSpPr>
          <p:cNvPr id="9" name="Text 7"/>
          <p:cNvSpPr/>
          <p:nvPr/>
        </p:nvSpPr>
        <p:spPr>
          <a:xfrm>
            <a:off x="658368" y="1307592"/>
            <a:ext cx="2240280" cy="402336"/>
          </a:xfrm>
          <a:prstGeom prst="rect">
            <a:avLst/>
          </a:prstGeom>
          <a:noFill/>
          <a:ln/>
        </p:spPr>
        <p:txBody>
          <a:bodyPr wrap="square" rtlCol="0" anchor="ctr"/>
          <a:lstStyle/>
          <a:p>
            <a:pPr algn="ctr" indent="0" marL="0">
              <a:buNone/>
            </a:pPr>
            <a:r>
              <a:rPr lang="en-US" sz="1050" b="1" dirty="0">
                <a:solidFill>
                  <a:srgbClr val="0B7A75"/>
                </a:solidFill>
                <a:latin typeface="Consolas" pitchFamily="34" charset="0"/>
                <a:ea typeface="Consolas" pitchFamily="34" charset="-122"/>
                <a:cs typeface="Consolas" pitchFamily="34" charset="-120"/>
              </a:rPr>
              <a:t>S_time = e^(-(t - μ)² / 2σ²)</a:t>
            </a:r>
            <a:endParaRPr lang="en-US" sz="1050" dirty="0"/>
          </a:p>
        </p:txBody>
      </p:sp>
      <p:sp>
        <p:nvSpPr>
          <p:cNvPr id="10" name="Text 8"/>
          <p:cNvSpPr/>
          <p:nvPr/>
        </p:nvSpPr>
        <p:spPr>
          <a:xfrm>
            <a:off x="658368" y="1764792"/>
            <a:ext cx="2267712" cy="804672"/>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Gaussian bell curve — login at a usual hour scores HIGH. 3 AM for a 9-to-5 user scores LOW.</a:t>
            </a:r>
            <a:endParaRPr lang="en-US" sz="1000" dirty="0"/>
          </a:p>
        </p:txBody>
      </p:sp>
      <p:sp>
        <p:nvSpPr>
          <p:cNvPr id="11" name="Shape 9"/>
          <p:cNvSpPr/>
          <p:nvPr/>
        </p:nvSpPr>
        <p:spPr>
          <a:xfrm>
            <a:off x="3172968" y="868680"/>
            <a:ext cx="283464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172968" y="868680"/>
            <a:ext cx="411480" cy="1783080"/>
          </a:xfrm>
          <a:prstGeom prst="rect">
            <a:avLst/>
          </a:prstGeom>
          <a:solidFill>
            <a:srgbClr val="1B3A5C"/>
          </a:solidFill>
          <a:ln/>
        </p:spPr>
      </p:sp>
      <p:sp>
        <p:nvSpPr>
          <p:cNvPr id="13" name="Text 11"/>
          <p:cNvSpPr/>
          <p:nvPr/>
        </p:nvSpPr>
        <p:spPr>
          <a:xfrm>
            <a:off x="3172968" y="868680"/>
            <a:ext cx="411480" cy="1783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648456" y="960120"/>
            <a:ext cx="228600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Location Consistency</a:t>
            </a:r>
            <a:endParaRPr lang="en-US" sz="1300" dirty="0"/>
          </a:p>
        </p:txBody>
      </p:sp>
      <p:sp>
        <p:nvSpPr>
          <p:cNvPr id="15" name="Shape 13"/>
          <p:cNvSpPr/>
          <p:nvPr/>
        </p:nvSpPr>
        <p:spPr>
          <a:xfrm>
            <a:off x="3648456" y="1307592"/>
            <a:ext cx="2240280" cy="402336"/>
          </a:xfrm>
          <a:prstGeom prst="rect">
            <a:avLst/>
          </a:prstGeom>
          <a:solidFill>
            <a:srgbClr val="F0F4F8"/>
          </a:solidFill>
          <a:ln/>
        </p:spPr>
      </p:sp>
      <p:sp>
        <p:nvSpPr>
          <p:cNvPr id="16" name="Text 14"/>
          <p:cNvSpPr/>
          <p:nvPr/>
        </p:nvSpPr>
        <p:spPr>
          <a:xfrm>
            <a:off x="3648456" y="1307592"/>
            <a:ext cx="2240280" cy="402336"/>
          </a:xfrm>
          <a:prstGeom prst="rect">
            <a:avLst/>
          </a:prstGeom>
          <a:noFill/>
          <a:ln/>
        </p:spPr>
        <p:txBody>
          <a:bodyPr wrap="square" rtlCol="0" anchor="ctr"/>
          <a:lstStyle/>
          <a:p>
            <a:pPr algn="ctr" indent="0" marL="0">
              <a:buNone/>
            </a:pPr>
            <a:r>
              <a:rPr lang="en-US" sz="1050" b="1" dirty="0">
                <a:solidFill>
                  <a:srgbClr val="0B7A75"/>
                </a:solidFill>
                <a:latin typeface="Consolas" pitchFamily="34" charset="0"/>
                <a:ea typeface="Consolas" pitchFamily="34" charset="-122"/>
                <a:cs typeface="Consolas" pitchFamily="34" charset="-120"/>
              </a:rPr>
              <a:t>S_loc = e^(-k·d)</a:t>
            </a:r>
            <a:endParaRPr lang="en-US" sz="1050" dirty="0"/>
          </a:p>
        </p:txBody>
      </p:sp>
      <p:sp>
        <p:nvSpPr>
          <p:cNvPr id="17" name="Text 15"/>
          <p:cNvSpPr/>
          <p:nvPr/>
        </p:nvSpPr>
        <p:spPr>
          <a:xfrm>
            <a:off x="3648456" y="1764792"/>
            <a:ext cx="2267712" cy="804672"/>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Exponential decay with distance. Same city = near 1.0. Different continent = near 0.0.</a:t>
            </a:r>
            <a:endParaRPr lang="en-US" sz="1000" dirty="0"/>
          </a:p>
        </p:txBody>
      </p:sp>
      <p:sp>
        <p:nvSpPr>
          <p:cNvPr id="18" name="Shape 16"/>
          <p:cNvSpPr/>
          <p:nvPr/>
        </p:nvSpPr>
        <p:spPr>
          <a:xfrm>
            <a:off x="6163056" y="868680"/>
            <a:ext cx="283464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6163056" y="868680"/>
            <a:ext cx="411480" cy="1783080"/>
          </a:xfrm>
          <a:prstGeom prst="rect">
            <a:avLst/>
          </a:prstGeom>
          <a:solidFill>
            <a:srgbClr val="0B7A75"/>
          </a:solidFill>
          <a:ln/>
        </p:spPr>
      </p:sp>
      <p:sp>
        <p:nvSpPr>
          <p:cNvPr id="20" name="Text 18"/>
          <p:cNvSpPr/>
          <p:nvPr/>
        </p:nvSpPr>
        <p:spPr>
          <a:xfrm>
            <a:off x="6163056" y="868680"/>
            <a:ext cx="411480" cy="1783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1" name="Text 19"/>
          <p:cNvSpPr/>
          <p:nvPr/>
        </p:nvSpPr>
        <p:spPr>
          <a:xfrm>
            <a:off x="6638544" y="960120"/>
            <a:ext cx="228600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Device Stability</a:t>
            </a:r>
            <a:endParaRPr lang="en-US" sz="1300" dirty="0"/>
          </a:p>
        </p:txBody>
      </p:sp>
      <p:sp>
        <p:nvSpPr>
          <p:cNvPr id="22" name="Shape 20"/>
          <p:cNvSpPr/>
          <p:nvPr/>
        </p:nvSpPr>
        <p:spPr>
          <a:xfrm>
            <a:off x="6638544" y="1307592"/>
            <a:ext cx="2240280" cy="402336"/>
          </a:xfrm>
          <a:prstGeom prst="rect">
            <a:avLst/>
          </a:prstGeom>
          <a:solidFill>
            <a:srgbClr val="F0F4F8"/>
          </a:solidFill>
          <a:ln/>
        </p:spPr>
      </p:sp>
      <p:sp>
        <p:nvSpPr>
          <p:cNvPr id="23" name="Text 21"/>
          <p:cNvSpPr/>
          <p:nvPr/>
        </p:nvSpPr>
        <p:spPr>
          <a:xfrm>
            <a:off x="6638544" y="1307592"/>
            <a:ext cx="2240280" cy="402336"/>
          </a:xfrm>
          <a:prstGeom prst="rect">
            <a:avLst/>
          </a:prstGeom>
          <a:noFill/>
          <a:ln/>
        </p:spPr>
        <p:txBody>
          <a:bodyPr wrap="square" rtlCol="0" anchor="ctr"/>
          <a:lstStyle/>
          <a:p>
            <a:pPr algn="ctr" indent="0" marL="0">
              <a:buNone/>
            </a:pPr>
            <a:r>
              <a:rPr lang="en-US" sz="1050" b="1" dirty="0">
                <a:solidFill>
                  <a:srgbClr val="0B7A75"/>
                </a:solidFill>
                <a:latin typeface="Consolas" pitchFamily="34" charset="0"/>
                <a:ea typeface="Consolas" pitchFamily="34" charset="-122"/>
                <a:cs typeface="Consolas" pitchFamily="34" charset="-120"/>
              </a:rPr>
              <a:t>S_dev = N_device / N_total</a:t>
            </a:r>
            <a:endParaRPr lang="en-US" sz="1050" dirty="0"/>
          </a:p>
        </p:txBody>
      </p:sp>
      <p:sp>
        <p:nvSpPr>
          <p:cNvPr id="24" name="Text 22"/>
          <p:cNvSpPr/>
          <p:nvPr/>
        </p:nvSpPr>
        <p:spPr>
          <a:xfrm>
            <a:off x="6638544" y="1764792"/>
            <a:ext cx="2267712" cy="804672"/>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Simple probability. Device seen in 9 of 10 logins scores 0.9. New device = 0.0.</a:t>
            </a:r>
            <a:endParaRPr lang="en-US" sz="1000" dirty="0"/>
          </a:p>
        </p:txBody>
      </p:sp>
      <p:sp>
        <p:nvSpPr>
          <p:cNvPr id="25" name="Shape 23"/>
          <p:cNvSpPr/>
          <p:nvPr/>
        </p:nvSpPr>
        <p:spPr>
          <a:xfrm>
            <a:off x="1188720" y="2834640"/>
            <a:ext cx="283464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1188720" y="2834640"/>
            <a:ext cx="411480" cy="1783080"/>
          </a:xfrm>
          <a:prstGeom prst="rect">
            <a:avLst/>
          </a:prstGeom>
          <a:solidFill>
            <a:srgbClr val="1B3A5C"/>
          </a:solidFill>
          <a:ln/>
        </p:spPr>
      </p:sp>
      <p:sp>
        <p:nvSpPr>
          <p:cNvPr id="27" name="Text 25"/>
          <p:cNvSpPr/>
          <p:nvPr/>
        </p:nvSpPr>
        <p:spPr>
          <a:xfrm>
            <a:off x="1188720" y="2834640"/>
            <a:ext cx="411480" cy="1783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8" name="Text 26"/>
          <p:cNvSpPr/>
          <p:nvPr/>
        </p:nvSpPr>
        <p:spPr>
          <a:xfrm>
            <a:off x="1664208" y="2926080"/>
            <a:ext cx="228600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Behavior (Frequency)</a:t>
            </a:r>
            <a:endParaRPr lang="en-US" sz="1300" dirty="0"/>
          </a:p>
        </p:txBody>
      </p:sp>
      <p:sp>
        <p:nvSpPr>
          <p:cNvPr id="29" name="Shape 27"/>
          <p:cNvSpPr/>
          <p:nvPr/>
        </p:nvSpPr>
        <p:spPr>
          <a:xfrm>
            <a:off x="1664208" y="3273552"/>
            <a:ext cx="2240280" cy="402336"/>
          </a:xfrm>
          <a:prstGeom prst="rect">
            <a:avLst/>
          </a:prstGeom>
          <a:solidFill>
            <a:srgbClr val="F0F4F8"/>
          </a:solidFill>
          <a:ln/>
        </p:spPr>
      </p:sp>
      <p:sp>
        <p:nvSpPr>
          <p:cNvPr id="30" name="Text 28"/>
          <p:cNvSpPr/>
          <p:nvPr/>
        </p:nvSpPr>
        <p:spPr>
          <a:xfrm>
            <a:off x="1664208" y="3273552"/>
            <a:ext cx="2240280" cy="402336"/>
          </a:xfrm>
          <a:prstGeom prst="rect">
            <a:avLst/>
          </a:prstGeom>
          <a:noFill/>
          <a:ln/>
        </p:spPr>
        <p:txBody>
          <a:bodyPr wrap="square" rtlCol="0" anchor="ctr"/>
          <a:lstStyle/>
          <a:p>
            <a:pPr algn="ctr" indent="0" marL="0">
              <a:buNone/>
            </a:pPr>
            <a:r>
              <a:rPr lang="en-US" sz="1050" b="1" dirty="0">
                <a:solidFill>
                  <a:srgbClr val="0B7A75"/>
                </a:solidFill>
                <a:latin typeface="Consolas" pitchFamily="34" charset="0"/>
                <a:ea typeface="Consolas" pitchFamily="34" charset="-122"/>
                <a:cs typeface="Consolas" pitchFamily="34" charset="-120"/>
              </a:rPr>
              <a:t>S_beh = 1 - (σ / μ)</a:t>
            </a:r>
            <a:endParaRPr lang="en-US" sz="1050" dirty="0"/>
          </a:p>
        </p:txBody>
      </p:sp>
      <p:sp>
        <p:nvSpPr>
          <p:cNvPr id="31" name="Text 29"/>
          <p:cNvSpPr/>
          <p:nvPr/>
        </p:nvSpPr>
        <p:spPr>
          <a:xfrm>
            <a:off x="1664208" y="3730752"/>
            <a:ext cx="2267712" cy="804672"/>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Coefficient of Variation. Consistent login frequency scores HIGH. Sudden spike = anomaly.</a:t>
            </a:r>
            <a:endParaRPr lang="en-US" sz="1000" dirty="0"/>
          </a:p>
        </p:txBody>
      </p:sp>
      <p:sp>
        <p:nvSpPr>
          <p:cNvPr id="32" name="Shape 30"/>
          <p:cNvSpPr/>
          <p:nvPr/>
        </p:nvSpPr>
        <p:spPr>
          <a:xfrm>
            <a:off x="4389120" y="2834640"/>
            <a:ext cx="2834640" cy="1783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3" name="Shape 31"/>
          <p:cNvSpPr/>
          <p:nvPr/>
        </p:nvSpPr>
        <p:spPr>
          <a:xfrm>
            <a:off x="4389120" y="2834640"/>
            <a:ext cx="411480" cy="1783080"/>
          </a:xfrm>
          <a:prstGeom prst="rect">
            <a:avLst/>
          </a:prstGeom>
          <a:solidFill>
            <a:srgbClr val="0B7A75"/>
          </a:solidFill>
          <a:ln/>
        </p:spPr>
      </p:sp>
      <p:sp>
        <p:nvSpPr>
          <p:cNvPr id="34" name="Text 32"/>
          <p:cNvSpPr/>
          <p:nvPr/>
        </p:nvSpPr>
        <p:spPr>
          <a:xfrm>
            <a:off x="4389120" y="2834640"/>
            <a:ext cx="411480" cy="1783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5" name="Text 33"/>
          <p:cNvSpPr/>
          <p:nvPr/>
        </p:nvSpPr>
        <p:spPr>
          <a:xfrm>
            <a:off x="4864608" y="2926080"/>
            <a:ext cx="228600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Failed Attempts</a:t>
            </a:r>
            <a:endParaRPr lang="en-US" sz="1300" dirty="0"/>
          </a:p>
        </p:txBody>
      </p:sp>
      <p:sp>
        <p:nvSpPr>
          <p:cNvPr id="36" name="Shape 34"/>
          <p:cNvSpPr/>
          <p:nvPr/>
        </p:nvSpPr>
        <p:spPr>
          <a:xfrm>
            <a:off x="4864608" y="3273552"/>
            <a:ext cx="2240280" cy="402336"/>
          </a:xfrm>
          <a:prstGeom prst="rect">
            <a:avLst/>
          </a:prstGeom>
          <a:solidFill>
            <a:srgbClr val="F0F4F8"/>
          </a:solidFill>
          <a:ln/>
        </p:spPr>
      </p:sp>
      <p:sp>
        <p:nvSpPr>
          <p:cNvPr id="37" name="Text 35"/>
          <p:cNvSpPr/>
          <p:nvPr/>
        </p:nvSpPr>
        <p:spPr>
          <a:xfrm>
            <a:off x="4864608" y="3273552"/>
            <a:ext cx="2240280" cy="402336"/>
          </a:xfrm>
          <a:prstGeom prst="rect">
            <a:avLst/>
          </a:prstGeom>
          <a:noFill/>
          <a:ln/>
        </p:spPr>
        <p:txBody>
          <a:bodyPr wrap="square" rtlCol="0" anchor="ctr"/>
          <a:lstStyle/>
          <a:p>
            <a:pPr algn="ctr" indent="0" marL="0">
              <a:buNone/>
            </a:pPr>
            <a:r>
              <a:rPr lang="en-US" sz="1050" b="1" dirty="0">
                <a:solidFill>
                  <a:srgbClr val="0B7A75"/>
                </a:solidFill>
                <a:latin typeface="Consolas" pitchFamily="34" charset="0"/>
                <a:ea typeface="Consolas" pitchFamily="34" charset="-122"/>
                <a:cs typeface="Consolas" pitchFamily="34" charset="-120"/>
              </a:rPr>
              <a:t>S_fail = e^(-λ·f)</a:t>
            </a:r>
            <a:endParaRPr lang="en-US" sz="1050" dirty="0"/>
          </a:p>
        </p:txBody>
      </p:sp>
      <p:sp>
        <p:nvSpPr>
          <p:cNvPr id="38" name="Text 36"/>
          <p:cNvSpPr/>
          <p:nvPr/>
        </p:nvSpPr>
        <p:spPr>
          <a:xfrm>
            <a:off x="4864608" y="3730752"/>
            <a:ext cx="2267712" cy="804672"/>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Exponential penalty. Zero failures = 1.0. Brute-force attack → approaches 0.0 fast.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DATA FLOW  —  Step-by-Step Pipeline</a:t>
            </a:r>
            <a:endParaRPr lang="en-US" sz="2000" dirty="0"/>
          </a:p>
        </p:txBody>
      </p:sp>
      <p:sp>
        <p:nvSpPr>
          <p:cNvPr id="4" name="Shape 2"/>
          <p:cNvSpPr/>
          <p:nvPr/>
        </p:nvSpPr>
        <p:spPr>
          <a:xfrm>
            <a:off x="292608" y="1005840"/>
            <a:ext cx="1097280" cy="96012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5" name="Text 3"/>
          <p:cNvSpPr/>
          <p:nvPr/>
        </p:nvSpPr>
        <p:spPr>
          <a:xfrm>
            <a:off x="292608"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292608"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LoginEvent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Created</a:t>
            </a:r>
            <a:endParaRPr lang="en-US" sz="950" dirty="0"/>
          </a:p>
        </p:txBody>
      </p:sp>
      <p:sp>
        <p:nvSpPr>
          <p:cNvPr id="7" name="Text 5"/>
          <p:cNvSpPr/>
          <p:nvPr/>
        </p:nvSpPr>
        <p:spPr>
          <a:xfrm>
            <a:off x="1389888" y="1325880"/>
            <a:ext cx="182880" cy="320040"/>
          </a:xfrm>
          <a:prstGeom prst="rect">
            <a:avLst/>
          </a:prstGeom>
          <a:noFill/>
          <a:ln/>
        </p:spPr>
        <p:txBody>
          <a:bodyPr wrap="square" lIns="0" tIns="0" rIns="0" bIns="0" rtlCol="0" anchor="ctr"/>
          <a:lstStyle/>
          <a:p>
            <a:pPr algn="ctr" indent="0" marL="0">
              <a:buNone/>
            </a:pPr>
            <a:r>
              <a:rPr lang="en-US" sz="1400" dirty="0">
                <a:solidFill>
                  <a:srgbClr val="475569"/>
                </a:solidFill>
              </a:rPr>
              <a:t>→</a:t>
            </a:r>
            <a:endParaRPr lang="en-US" sz="1400" dirty="0"/>
          </a:p>
        </p:txBody>
      </p:sp>
      <p:sp>
        <p:nvSpPr>
          <p:cNvPr id="8" name="Shape 6"/>
          <p:cNvSpPr/>
          <p:nvPr/>
        </p:nvSpPr>
        <p:spPr>
          <a:xfrm>
            <a:off x="1536192" y="1005840"/>
            <a:ext cx="1097280" cy="96012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9" name="Text 7"/>
          <p:cNvSpPr/>
          <p:nvPr/>
        </p:nvSpPr>
        <p:spPr>
          <a:xfrm>
            <a:off x="1536192"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536192"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Scorer</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Applicability</a:t>
            </a:r>
            <a:endParaRPr lang="en-US" sz="950" dirty="0"/>
          </a:p>
        </p:txBody>
      </p:sp>
      <p:sp>
        <p:nvSpPr>
          <p:cNvPr id="11" name="Text 9"/>
          <p:cNvSpPr/>
          <p:nvPr/>
        </p:nvSpPr>
        <p:spPr>
          <a:xfrm>
            <a:off x="2633472" y="1325880"/>
            <a:ext cx="182880" cy="320040"/>
          </a:xfrm>
          <a:prstGeom prst="rect">
            <a:avLst/>
          </a:prstGeom>
          <a:noFill/>
          <a:ln/>
        </p:spPr>
        <p:txBody>
          <a:bodyPr wrap="square" lIns="0" tIns="0" rIns="0" bIns="0" rtlCol="0" anchor="ctr"/>
          <a:lstStyle/>
          <a:p>
            <a:pPr algn="ctr" indent="0" marL="0">
              <a:buNone/>
            </a:pPr>
            <a:r>
              <a:rPr lang="en-US" sz="1400" dirty="0">
                <a:solidFill>
                  <a:srgbClr val="475569"/>
                </a:solidFill>
              </a:rPr>
              <a:t>→</a:t>
            </a:r>
            <a:endParaRPr lang="en-US" sz="1400" dirty="0"/>
          </a:p>
        </p:txBody>
      </p:sp>
      <p:sp>
        <p:nvSpPr>
          <p:cNvPr id="12" name="Shape 10"/>
          <p:cNvSpPr/>
          <p:nvPr/>
        </p:nvSpPr>
        <p:spPr>
          <a:xfrm>
            <a:off x="2779776" y="1005840"/>
            <a:ext cx="1097280" cy="96012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13" name="Text 11"/>
          <p:cNvSpPr/>
          <p:nvPr/>
        </p:nvSpPr>
        <p:spPr>
          <a:xfrm>
            <a:off x="2779776"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2779776"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Individual</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Score Calc</a:t>
            </a:r>
            <a:endParaRPr lang="en-US" sz="950" dirty="0"/>
          </a:p>
        </p:txBody>
      </p:sp>
      <p:sp>
        <p:nvSpPr>
          <p:cNvPr id="15" name="Text 13"/>
          <p:cNvSpPr/>
          <p:nvPr/>
        </p:nvSpPr>
        <p:spPr>
          <a:xfrm>
            <a:off x="3877056" y="1325880"/>
            <a:ext cx="182880" cy="320040"/>
          </a:xfrm>
          <a:prstGeom prst="rect">
            <a:avLst/>
          </a:prstGeom>
          <a:noFill/>
          <a:ln/>
        </p:spPr>
        <p:txBody>
          <a:bodyPr wrap="square" lIns="0" tIns="0" rIns="0" bIns="0" rtlCol="0" anchor="ctr"/>
          <a:lstStyle/>
          <a:p>
            <a:pPr algn="ctr" indent="0" marL="0">
              <a:buNone/>
            </a:pPr>
            <a:r>
              <a:rPr lang="en-US" sz="1400" dirty="0">
                <a:solidFill>
                  <a:srgbClr val="475569"/>
                </a:solidFill>
              </a:rPr>
              <a:t>→</a:t>
            </a:r>
            <a:endParaRPr lang="en-US" sz="1400" dirty="0"/>
          </a:p>
        </p:txBody>
      </p:sp>
      <p:sp>
        <p:nvSpPr>
          <p:cNvPr id="16" name="Shape 14"/>
          <p:cNvSpPr/>
          <p:nvPr/>
        </p:nvSpPr>
        <p:spPr>
          <a:xfrm>
            <a:off x="4023360" y="1005840"/>
            <a:ext cx="1097280" cy="960120"/>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17" name="Text 15"/>
          <p:cNvSpPr/>
          <p:nvPr/>
        </p:nvSpPr>
        <p:spPr>
          <a:xfrm>
            <a:off x="4023360"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4023360"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Softmax</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Aggregation</a:t>
            </a:r>
            <a:endParaRPr lang="en-US" sz="950" dirty="0"/>
          </a:p>
        </p:txBody>
      </p:sp>
      <p:sp>
        <p:nvSpPr>
          <p:cNvPr id="19" name="Text 17"/>
          <p:cNvSpPr/>
          <p:nvPr/>
        </p:nvSpPr>
        <p:spPr>
          <a:xfrm>
            <a:off x="5120640" y="1325880"/>
            <a:ext cx="182880" cy="320040"/>
          </a:xfrm>
          <a:prstGeom prst="rect">
            <a:avLst/>
          </a:prstGeom>
          <a:noFill/>
          <a:ln/>
        </p:spPr>
        <p:txBody>
          <a:bodyPr wrap="square" lIns="0" tIns="0" rIns="0" bIns="0" rtlCol="0" anchor="ctr"/>
          <a:lstStyle/>
          <a:p>
            <a:pPr algn="ctr" indent="0" marL="0">
              <a:buNone/>
            </a:pPr>
            <a:r>
              <a:rPr lang="en-US" sz="1400" dirty="0">
                <a:solidFill>
                  <a:srgbClr val="475569"/>
                </a:solidFill>
              </a:rPr>
              <a:t>→</a:t>
            </a:r>
            <a:endParaRPr lang="en-US" sz="1400" dirty="0"/>
          </a:p>
        </p:txBody>
      </p:sp>
      <p:sp>
        <p:nvSpPr>
          <p:cNvPr id="20" name="Shape 18"/>
          <p:cNvSpPr/>
          <p:nvPr/>
        </p:nvSpPr>
        <p:spPr>
          <a:xfrm>
            <a:off x="5266944" y="1005840"/>
            <a:ext cx="1097280" cy="96012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21" name="Text 19"/>
          <p:cNvSpPr/>
          <p:nvPr/>
        </p:nvSpPr>
        <p:spPr>
          <a:xfrm>
            <a:off x="5266944"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5266944"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Risk</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Classification</a:t>
            </a:r>
            <a:endParaRPr lang="en-US" sz="950" dirty="0"/>
          </a:p>
        </p:txBody>
      </p:sp>
      <p:sp>
        <p:nvSpPr>
          <p:cNvPr id="23" name="Text 21"/>
          <p:cNvSpPr/>
          <p:nvPr/>
        </p:nvSpPr>
        <p:spPr>
          <a:xfrm>
            <a:off x="6364224" y="1325880"/>
            <a:ext cx="182880" cy="320040"/>
          </a:xfrm>
          <a:prstGeom prst="rect">
            <a:avLst/>
          </a:prstGeom>
          <a:noFill/>
          <a:ln/>
        </p:spPr>
        <p:txBody>
          <a:bodyPr wrap="square" lIns="0" tIns="0" rIns="0" bIns="0" rtlCol="0" anchor="ctr"/>
          <a:lstStyle/>
          <a:p>
            <a:pPr algn="ctr" indent="0" marL="0">
              <a:buNone/>
            </a:pPr>
            <a:r>
              <a:rPr lang="en-US" sz="1400" dirty="0">
                <a:solidFill>
                  <a:srgbClr val="475569"/>
                </a:solidFill>
              </a:rPr>
              <a:t>→</a:t>
            </a:r>
            <a:endParaRPr lang="en-US" sz="1400" dirty="0"/>
          </a:p>
        </p:txBody>
      </p:sp>
      <p:sp>
        <p:nvSpPr>
          <p:cNvPr id="24" name="Shape 22"/>
          <p:cNvSpPr/>
          <p:nvPr/>
        </p:nvSpPr>
        <p:spPr>
          <a:xfrm>
            <a:off x="6510528" y="1005840"/>
            <a:ext cx="1097280" cy="960120"/>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25" name="Text 23"/>
          <p:cNvSpPr/>
          <p:nvPr/>
        </p:nvSpPr>
        <p:spPr>
          <a:xfrm>
            <a:off x="6510528"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6510528"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Action</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Decision</a:t>
            </a:r>
            <a:endParaRPr lang="en-US" sz="950" dirty="0"/>
          </a:p>
        </p:txBody>
      </p:sp>
      <p:sp>
        <p:nvSpPr>
          <p:cNvPr id="27" name="Text 25"/>
          <p:cNvSpPr/>
          <p:nvPr/>
        </p:nvSpPr>
        <p:spPr>
          <a:xfrm>
            <a:off x="7607808" y="1325880"/>
            <a:ext cx="182880" cy="320040"/>
          </a:xfrm>
          <a:prstGeom prst="rect">
            <a:avLst/>
          </a:prstGeom>
          <a:noFill/>
          <a:ln/>
        </p:spPr>
        <p:txBody>
          <a:bodyPr wrap="square" lIns="0" tIns="0" rIns="0" bIns="0" rtlCol="0" anchor="ctr"/>
          <a:lstStyle/>
          <a:p>
            <a:pPr algn="ctr" indent="0" marL="0">
              <a:buNone/>
            </a:pPr>
            <a:r>
              <a:rPr lang="en-US" sz="1400" dirty="0">
                <a:solidFill>
                  <a:srgbClr val="475569"/>
                </a:solidFill>
              </a:rPr>
              <a:t>→</a:t>
            </a:r>
            <a:endParaRPr lang="en-US" sz="1400" dirty="0"/>
          </a:p>
        </p:txBody>
      </p:sp>
      <p:sp>
        <p:nvSpPr>
          <p:cNvPr id="28" name="Shape 26"/>
          <p:cNvSpPr/>
          <p:nvPr/>
        </p:nvSpPr>
        <p:spPr>
          <a:xfrm>
            <a:off x="7754112" y="1005840"/>
            <a:ext cx="1097280" cy="960120"/>
          </a:xfrm>
          <a:prstGeom prst="rect">
            <a:avLst/>
          </a:prstGeom>
          <a:solidFill>
            <a:srgbClr val="0D9488"/>
          </a:solidFill>
          <a:ln/>
          <a:effectLst>
            <a:outerShdw sx="100000" sy="100000" kx="0" ky="0" algn="bl" rotWithShape="0" blurRad="101600" dist="38100" dir="8100000">
              <a:srgbClr val="000000">
                <a:alpha val="12000"/>
              </a:srgbClr>
            </a:outerShdw>
          </a:effectLst>
        </p:spPr>
      </p:sp>
      <p:sp>
        <p:nvSpPr>
          <p:cNvPr id="29" name="Text 27"/>
          <p:cNvSpPr/>
          <p:nvPr/>
        </p:nvSpPr>
        <p:spPr>
          <a:xfrm>
            <a:off x="7754112" y="1060704"/>
            <a:ext cx="10972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p:nvPr/>
        </p:nvSpPr>
        <p:spPr>
          <a:xfrm>
            <a:off x="7754112" y="1389888"/>
            <a:ext cx="1097280" cy="53035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RiskDecision</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Output</a:t>
            </a:r>
            <a:endParaRPr lang="en-US" sz="950" dirty="0"/>
          </a:p>
        </p:txBody>
      </p:sp>
      <p:sp>
        <p:nvSpPr>
          <p:cNvPr id="31" name="Shape 29"/>
          <p:cNvSpPr/>
          <p:nvPr/>
        </p:nvSpPr>
        <p:spPr>
          <a:xfrm>
            <a:off x="182880" y="2240280"/>
            <a:ext cx="4343400" cy="120700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182880" y="2240280"/>
            <a:ext cx="4343400" cy="329184"/>
          </a:xfrm>
          <a:prstGeom prst="rect">
            <a:avLst/>
          </a:prstGeom>
          <a:solidFill>
            <a:srgbClr val="1B3A5C"/>
          </a:solidFill>
          <a:ln/>
        </p:spPr>
      </p:sp>
      <p:sp>
        <p:nvSpPr>
          <p:cNvPr id="33" name="Text 31"/>
          <p:cNvSpPr/>
          <p:nvPr/>
        </p:nvSpPr>
        <p:spPr>
          <a:xfrm>
            <a:off x="274320" y="2240280"/>
            <a:ext cx="4160520" cy="329184"/>
          </a:xfrm>
          <a:prstGeom prst="rect">
            <a:avLst/>
          </a:prstGeom>
          <a:noFill/>
          <a:ln/>
        </p:spPr>
        <p:txBody>
          <a:bodyPr wrap="square"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Step 1 — LoginEvent Creation</a:t>
            </a:r>
            <a:endParaRPr lang="en-US" sz="1100" dirty="0"/>
          </a:p>
        </p:txBody>
      </p:sp>
      <p:sp>
        <p:nvSpPr>
          <p:cNvPr id="34" name="Text 32"/>
          <p:cNvSpPr/>
          <p:nvPr/>
        </p:nvSpPr>
        <p:spPr>
          <a:xfrm>
            <a:off x="274320" y="2606040"/>
            <a:ext cx="4160520" cy="786384"/>
          </a:xfrm>
          <a:prstGeom prst="rect">
            <a:avLst/>
          </a:prstGeom>
          <a:noFill/>
          <a:ln/>
        </p:spPr>
        <p:txBody>
          <a:bodyPr wrap="square" rtlCol="0" anchor="t"/>
          <a:lstStyle/>
          <a:p>
            <a:pPr indent="0" marL="0">
              <a:buNone/>
            </a:pPr>
            <a:r>
              <a:rPr lang="en-US" sz="1050" dirty="0">
                <a:solidFill>
                  <a:srgbClr val="475569"/>
                </a:solidFill>
                <a:latin typeface="Calibri" pitchFamily="34" charset="0"/>
                <a:ea typeface="Calibri" pitchFamily="34" charset="-122"/>
                <a:cs typeface="Calibri" pitchFamily="34" charset="-120"/>
              </a:rPr>
              <a:t>LoginEvent POJO captures: timestamp, IP, device fingerprint, user-agent, failed attempts count. UserHistory provides baseline behavioral profile.</a:t>
            </a:r>
            <a:endParaRPr lang="en-US" sz="1050" dirty="0"/>
          </a:p>
        </p:txBody>
      </p:sp>
      <p:sp>
        <p:nvSpPr>
          <p:cNvPr id="35" name="Shape 33"/>
          <p:cNvSpPr/>
          <p:nvPr/>
        </p:nvSpPr>
        <p:spPr>
          <a:xfrm>
            <a:off x="4709160" y="2240280"/>
            <a:ext cx="4343400" cy="120700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6" name="Shape 34"/>
          <p:cNvSpPr/>
          <p:nvPr/>
        </p:nvSpPr>
        <p:spPr>
          <a:xfrm>
            <a:off x="4709160" y="2240280"/>
            <a:ext cx="4343400" cy="329184"/>
          </a:xfrm>
          <a:prstGeom prst="rect">
            <a:avLst/>
          </a:prstGeom>
          <a:solidFill>
            <a:srgbClr val="1B3A5C"/>
          </a:solidFill>
          <a:ln/>
        </p:spPr>
      </p:sp>
      <p:sp>
        <p:nvSpPr>
          <p:cNvPr id="37" name="Text 35"/>
          <p:cNvSpPr/>
          <p:nvPr/>
        </p:nvSpPr>
        <p:spPr>
          <a:xfrm>
            <a:off x="4800600" y="2240280"/>
            <a:ext cx="4160520" cy="329184"/>
          </a:xfrm>
          <a:prstGeom prst="rect">
            <a:avLst/>
          </a:prstGeom>
          <a:noFill/>
          <a:ln/>
        </p:spPr>
        <p:txBody>
          <a:bodyPr wrap="square"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Steps 2-3 — Scoring</a:t>
            </a:r>
            <a:endParaRPr lang="en-US" sz="1100" dirty="0"/>
          </a:p>
        </p:txBody>
      </p:sp>
      <p:sp>
        <p:nvSpPr>
          <p:cNvPr id="38" name="Text 36"/>
          <p:cNvSpPr/>
          <p:nvPr/>
        </p:nvSpPr>
        <p:spPr>
          <a:xfrm>
            <a:off x="4800600" y="2606040"/>
            <a:ext cx="4160520" cy="786384"/>
          </a:xfrm>
          <a:prstGeom prst="rect">
            <a:avLst/>
          </a:prstGeom>
          <a:noFill/>
          <a:ln/>
        </p:spPr>
        <p:txBody>
          <a:bodyPr wrap="square" rtlCol="0" anchor="t"/>
          <a:lstStyle/>
          <a:p>
            <a:pPr indent="0" marL="0">
              <a:buNone/>
            </a:pPr>
            <a:r>
              <a:rPr lang="en-US" sz="1050" dirty="0">
                <a:solidFill>
                  <a:srgbClr val="475569"/>
                </a:solidFill>
                <a:latin typeface="Calibri" pitchFamily="34" charset="0"/>
                <a:ea typeface="Calibri" pitchFamily="34" charset="-122"/>
                <a:cs typeface="Calibri" pitchFamily="34" charset="-120"/>
              </a:rPr>
              <a:t>Each scorer checks isApplicable() — skips if data unavailable. Returns S_i ∈ [0,1] for each dimension independently.</a:t>
            </a:r>
            <a:endParaRPr lang="en-US" sz="1050" dirty="0"/>
          </a:p>
        </p:txBody>
      </p:sp>
      <p:sp>
        <p:nvSpPr>
          <p:cNvPr id="39" name="Shape 37"/>
          <p:cNvSpPr/>
          <p:nvPr/>
        </p:nvSpPr>
        <p:spPr>
          <a:xfrm>
            <a:off x="182880" y="3566160"/>
            <a:ext cx="4343400" cy="120700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0" name="Shape 38"/>
          <p:cNvSpPr/>
          <p:nvPr/>
        </p:nvSpPr>
        <p:spPr>
          <a:xfrm>
            <a:off x="182880" y="3566160"/>
            <a:ext cx="4343400" cy="329184"/>
          </a:xfrm>
          <a:prstGeom prst="rect">
            <a:avLst/>
          </a:prstGeom>
          <a:solidFill>
            <a:srgbClr val="1B3A5C"/>
          </a:solidFill>
          <a:ln/>
        </p:spPr>
      </p:sp>
      <p:sp>
        <p:nvSpPr>
          <p:cNvPr id="41" name="Text 39"/>
          <p:cNvSpPr/>
          <p:nvPr/>
        </p:nvSpPr>
        <p:spPr>
          <a:xfrm>
            <a:off x="274320" y="3566160"/>
            <a:ext cx="4160520" cy="329184"/>
          </a:xfrm>
          <a:prstGeom prst="rect">
            <a:avLst/>
          </a:prstGeom>
          <a:noFill/>
          <a:ln/>
        </p:spPr>
        <p:txBody>
          <a:bodyPr wrap="square"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Steps 4 — Softmax Aggregation</a:t>
            </a:r>
            <a:endParaRPr lang="en-US" sz="1100" dirty="0"/>
          </a:p>
        </p:txBody>
      </p:sp>
      <p:sp>
        <p:nvSpPr>
          <p:cNvPr id="42" name="Text 40"/>
          <p:cNvSpPr/>
          <p:nvPr/>
        </p:nvSpPr>
        <p:spPr>
          <a:xfrm>
            <a:off x="274320" y="3931920"/>
            <a:ext cx="4160520" cy="786384"/>
          </a:xfrm>
          <a:prstGeom prst="rect">
            <a:avLst/>
          </a:prstGeom>
          <a:noFill/>
          <a:ln/>
        </p:spPr>
        <p:txBody>
          <a:bodyPr wrap="square" rtlCol="0" anchor="t"/>
          <a:lstStyle/>
          <a:p>
            <a:pPr indent="0" marL="0">
              <a:buNone/>
            </a:pPr>
            <a:r>
              <a:rPr lang="en-US" sz="1050" dirty="0">
                <a:solidFill>
                  <a:srgbClr val="475569"/>
                </a:solidFill>
                <a:latin typeface="Calibri" pitchFamily="34" charset="0"/>
                <a:ea typeface="Calibri" pitchFamily="34" charset="-122"/>
                <a:cs typeface="Calibri" pitchFamily="34" charset="-120"/>
              </a:rPr>
              <a:t>Raw reliability scores r_i converted to weights W_i = e^(r_i)/Σe^(r_j). Weights always sum to 1.0. Final Score = Σ(W_i × S_i) ∈ [0,100].</a:t>
            </a:r>
            <a:endParaRPr lang="en-US" sz="1050" dirty="0"/>
          </a:p>
        </p:txBody>
      </p:sp>
      <p:sp>
        <p:nvSpPr>
          <p:cNvPr id="43" name="Shape 41"/>
          <p:cNvSpPr/>
          <p:nvPr/>
        </p:nvSpPr>
        <p:spPr>
          <a:xfrm>
            <a:off x="4709160" y="3566160"/>
            <a:ext cx="4343400" cy="120700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4" name="Shape 42"/>
          <p:cNvSpPr/>
          <p:nvPr/>
        </p:nvSpPr>
        <p:spPr>
          <a:xfrm>
            <a:off x="4709160" y="3566160"/>
            <a:ext cx="4343400" cy="329184"/>
          </a:xfrm>
          <a:prstGeom prst="rect">
            <a:avLst/>
          </a:prstGeom>
          <a:solidFill>
            <a:srgbClr val="1B3A5C"/>
          </a:solidFill>
          <a:ln/>
        </p:spPr>
      </p:sp>
      <p:sp>
        <p:nvSpPr>
          <p:cNvPr id="45" name="Text 43"/>
          <p:cNvSpPr/>
          <p:nvPr/>
        </p:nvSpPr>
        <p:spPr>
          <a:xfrm>
            <a:off x="4800600" y="3566160"/>
            <a:ext cx="4160520" cy="329184"/>
          </a:xfrm>
          <a:prstGeom prst="rect">
            <a:avLst/>
          </a:prstGeom>
          <a:noFill/>
          <a:ln/>
        </p:spPr>
        <p:txBody>
          <a:bodyPr wrap="square"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Steps 5-7 — Classification &amp; Output</a:t>
            </a:r>
            <a:endParaRPr lang="en-US" sz="1100" dirty="0"/>
          </a:p>
        </p:txBody>
      </p:sp>
      <p:sp>
        <p:nvSpPr>
          <p:cNvPr id="46" name="Text 44"/>
          <p:cNvSpPr/>
          <p:nvPr/>
        </p:nvSpPr>
        <p:spPr>
          <a:xfrm>
            <a:off x="4800600" y="3931920"/>
            <a:ext cx="4160520" cy="786384"/>
          </a:xfrm>
          <a:prstGeom prst="rect">
            <a:avLst/>
          </a:prstGeom>
          <a:noFill/>
          <a:ln/>
        </p:spPr>
        <p:txBody>
          <a:bodyPr wrap="square" rtlCol="0" anchor="t"/>
          <a:lstStyle/>
          <a:p>
            <a:pPr indent="0" marL="0">
              <a:buNone/>
            </a:pPr>
            <a:r>
              <a:rPr lang="en-US" sz="1050" dirty="0">
                <a:solidFill>
                  <a:srgbClr val="475569"/>
                </a:solidFill>
                <a:latin typeface="Calibri" pitchFamily="34" charset="0"/>
                <a:ea typeface="Calibri" pitchFamily="34" charset="-122"/>
                <a:cs typeface="Calibri" pitchFamily="34" charset="-120"/>
              </a:rPr>
              <a:t>Score ≥ 70 → LOW Risk → ALLOW. Score 40-69 → MEDIUM → STEP-UP. Score &lt; 40 → HIGH → BLOCK. RiskDecision includes score, reasons, and contributing factors.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DESIGN PATTERNS  &amp;  SOLID PRINCIPLES</a:t>
            </a:r>
            <a:endParaRPr lang="en-US" sz="2000" dirty="0"/>
          </a:p>
        </p:txBody>
      </p:sp>
      <p:sp>
        <p:nvSpPr>
          <p:cNvPr id="4" name="Shape 2"/>
          <p:cNvSpPr/>
          <p:nvPr/>
        </p:nvSpPr>
        <p:spPr>
          <a:xfrm>
            <a:off x="182880" y="896112"/>
            <a:ext cx="43434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182880" y="896112"/>
            <a:ext cx="4343400" cy="420624"/>
          </a:xfrm>
          <a:prstGeom prst="rect">
            <a:avLst/>
          </a:prstGeom>
          <a:solidFill>
            <a:srgbClr val="0B7A75"/>
          </a:solidFill>
          <a:ln/>
        </p:spPr>
      </p:sp>
      <p:sp>
        <p:nvSpPr>
          <p:cNvPr id="6" name="Text 4"/>
          <p:cNvSpPr/>
          <p:nvPr/>
        </p:nvSpPr>
        <p:spPr>
          <a:xfrm>
            <a:off x="292608" y="896112"/>
            <a:ext cx="416052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Strategy Pattern</a:t>
            </a:r>
            <a:endParaRPr lang="en-US" sz="1400" dirty="0"/>
          </a:p>
        </p:txBody>
      </p:sp>
      <p:sp>
        <p:nvSpPr>
          <p:cNvPr id="7" name="Text 5"/>
          <p:cNvSpPr/>
          <p:nvPr/>
        </p:nvSpPr>
        <p:spPr>
          <a:xfrm>
            <a:off x="292608" y="1371600"/>
            <a:ext cx="4160520" cy="1371600"/>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Each scorer implements a common CredentialScorer interface</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Engine works with the interface — not concrete classes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Add a new scorer (e.g., BiometricScorer) with zero engine changes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Runtime polymorphism enables clean extensibility</a:t>
            </a:r>
            <a:endParaRPr lang="en-US" sz="1050" dirty="0"/>
          </a:p>
        </p:txBody>
      </p:sp>
      <p:sp>
        <p:nvSpPr>
          <p:cNvPr id="8" name="Shape 6"/>
          <p:cNvSpPr/>
          <p:nvPr/>
        </p:nvSpPr>
        <p:spPr>
          <a:xfrm>
            <a:off x="4709160" y="896112"/>
            <a:ext cx="43434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4709160" y="896112"/>
            <a:ext cx="4343400" cy="420624"/>
          </a:xfrm>
          <a:prstGeom prst="rect">
            <a:avLst/>
          </a:prstGeom>
          <a:solidFill>
            <a:srgbClr val="1B3A5C"/>
          </a:solidFill>
          <a:ln/>
        </p:spPr>
      </p:sp>
      <p:sp>
        <p:nvSpPr>
          <p:cNvPr id="10" name="Text 8"/>
          <p:cNvSpPr/>
          <p:nvPr/>
        </p:nvSpPr>
        <p:spPr>
          <a:xfrm>
            <a:off x="4818888" y="896112"/>
            <a:ext cx="416052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Builder Pattern</a:t>
            </a:r>
            <a:endParaRPr lang="en-US" sz="1400" dirty="0"/>
          </a:p>
        </p:txBody>
      </p:sp>
      <p:sp>
        <p:nvSpPr>
          <p:cNvPr id="11" name="Text 9"/>
          <p:cNvSpPr/>
          <p:nvPr/>
        </p:nvSpPr>
        <p:spPr>
          <a:xfrm>
            <a:off x="4818888" y="1371600"/>
            <a:ext cx="4160520" cy="1371600"/>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LoginEvent, UserHistory built via step-by-step builders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Prevents invalid object states — no null fields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Readable, self-documenting object creation code</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Essential for 10+ field POJOs without telescoping constructors</a:t>
            </a:r>
            <a:endParaRPr lang="en-US" sz="1050" dirty="0"/>
          </a:p>
        </p:txBody>
      </p:sp>
      <p:sp>
        <p:nvSpPr>
          <p:cNvPr id="12" name="Shape 10"/>
          <p:cNvSpPr/>
          <p:nvPr/>
        </p:nvSpPr>
        <p:spPr>
          <a:xfrm>
            <a:off x="182880" y="2907792"/>
            <a:ext cx="43434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182880" y="2907792"/>
            <a:ext cx="4343400" cy="420624"/>
          </a:xfrm>
          <a:prstGeom prst="rect">
            <a:avLst/>
          </a:prstGeom>
          <a:solidFill>
            <a:srgbClr val="0B7A75"/>
          </a:solidFill>
          <a:ln/>
        </p:spPr>
      </p:sp>
      <p:sp>
        <p:nvSpPr>
          <p:cNvPr id="14" name="Text 12"/>
          <p:cNvSpPr/>
          <p:nvPr/>
        </p:nvSpPr>
        <p:spPr>
          <a:xfrm>
            <a:off x="292608" y="2907792"/>
            <a:ext cx="416052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Constructor Injection</a:t>
            </a:r>
            <a:endParaRPr lang="en-US" sz="1400" dirty="0"/>
          </a:p>
        </p:txBody>
      </p:sp>
      <p:sp>
        <p:nvSpPr>
          <p:cNvPr id="15" name="Text 13"/>
          <p:cNvSpPr/>
          <p:nvPr/>
        </p:nvSpPr>
        <p:spPr>
          <a:xfrm>
            <a:off x="292608" y="3383280"/>
            <a:ext cx="4160520" cy="1371600"/>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ScoringEngine receives scorer list via constructor</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Enables easy unit testing — inject mock scorers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No hidden dependencies — explicit and transparent</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Foundation for future Spring DI integration</a:t>
            </a:r>
            <a:endParaRPr lang="en-US" sz="1050" dirty="0"/>
          </a:p>
        </p:txBody>
      </p:sp>
      <p:sp>
        <p:nvSpPr>
          <p:cNvPr id="16" name="Shape 14"/>
          <p:cNvSpPr/>
          <p:nvPr/>
        </p:nvSpPr>
        <p:spPr>
          <a:xfrm>
            <a:off x="4709160" y="2907792"/>
            <a:ext cx="434340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4709160" y="2907792"/>
            <a:ext cx="4343400" cy="420624"/>
          </a:xfrm>
          <a:prstGeom prst="rect">
            <a:avLst/>
          </a:prstGeom>
          <a:solidFill>
            <a:srgbClr val="1B3A5C"/>
          </a:solidFill>
          <a:ln/>
        </p:spPr>
      </p:sp>
      <p:sp>
        <p:nvSpPr>
          <p:cNvPr id="18" name="Text 16"/>
          <p:cNvSpPr/>
          <p:nvPr/>
        </p:nvSpPr>
        <p:spPr>
          <a:xfrm>
            <a:off x="4818888" y="2907792"/>
            <a:ext cx="416052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Open/Closed Principle</a:t>
            </a:r>
            <a:endParaRPr lang="en-US" sz="1400" dirty="0"/>
          </a:p>
        </p:txBody>
      </p:sp>
      <p:sp>
        <p:nvSpPr>
          <p:cNvPr id="19" name="Text 17"/>
          <p:cNvSpPr/>
          <p:nvPr/>
        </p:nvSpPr>
        <p:spPr>
          <a:xfrm>
            <a:off x="4818888" y="3383280"/>
            <a:ext cx="4160520" cy="1371600"/>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System is open for extension, closed for modification</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New scoring dimension = new class, no existing code changes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Risk thresholds configurable without touching logic</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Softmax auto-adapts weights for any number of scorers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TEST CASE ANALYSIS  —  39 Comprehensive Tests</a:t>
            </a:r>
            <a:endParaRPr lang="en-US" sz="2000" dirty="0"/>
          </a:p>
        </p:txBody>
      </p:sp>
      <p:sp>
        <p:nvSpPr>
          <p:cNvPr id="4" name="Shape 2"/>
          <p:cNvSpPr/>
          <p:nvPr/>
        </p:nvSpPr>
        <p:spPr>
          <a:xfrm>
            <a:off x="182880" y="822960"/>
            <a:ext cx="1600200" cy="777240"/>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5" name="Text 3"/>
          <p:cNvSpPr/>
          <p:nvPr/>
        </p:nvSpPr>
        <p:spPr>
          <a:xfrm>
            <a:off x="182880" y="841248"/>
            <a:ext cx="1600200" cy="384048"/>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39</a:t>
            </a:r>
            <a:endParaRPr lang="en-US" sz="2400" dirty="0"/>
          </a:p>
        </p:txBody>
      </p:sp>
      <p:sp>
        <p:nvSpPr>
          <p:cNvPr id="6" name="Text 4"/>
          <p:cNvSpPr/>
          <p:nvPr/>
        </p:nvSpPr>
        <p:spPr>
          <a:xfrm>
            <a:off x="182880" y="1225296"/>
            <a:ext cx="1600200" cy="32918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Total Tests</a:t>
            </a:r>
            <a:endParaRPr lang="en-US" sz="1000" dirty="0"/>
          </a:p>
        </p:txBody>
      </p:sp>
      <p:sp>
        <p:nvSpPr>
          <p:cNvPr id="7" name="Shape 5"/>
          <p:cNvSpPr/>
          <p:nvPr/>
        </p:nvSpPr>
        <p:spPr>
          <a:xfrm>
            <a:off x="1947672" y="822960"/>
            <a:ext cx="1600200" cy="777240"/>
          </a:xfrm>
          <a:prstGeom prst="rect">
            <a:avLst/>
          </a:prstGeom>
          <a:solidFill>
            <a:srgbClr val="0B7A75"/>
          </a:solidFill>
          <a:ln/>
          <a:effectLst>
            <a:outerShdw sx="100000" sy="100000" kx="0" ky="0" algn="bl" rotWithShape="0" blurRad="101600" dist="38100" dir="8100000">
              <a:srgbClr val="000000">
                <a:alpha val="12000"/>
              </a:srgbClr>
            </a:outerShdw>
          </a:effectLst>
        </p:spPr>
      </p:sp>
      <p:sp>
        <p:nvSpPr>
          <p:cNvPr id="8" name="Text 6"/>
          <p:cNvSpPr/>
          <p:nvPr/>
        </p:nvSpPr>
        <p:spPr>
          <a:xfrm>
            <a:off x="1947672" y="841248"/>
            <a:ext cx="1600200" cy="384048"/>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9" name="Text 7"/>
          <p:cNvSpPr/>
          <p:nvPr/>
        </p:nvSpPr>
        <p:spPr>
          <a:xfrm>
            <a:off x="1947672" y="1225296"/>
            <a:ext cx="1600200" cy="32918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Categories</a:t>
            </a:r>
            <a:endParaRPr lang="en-US" sz="1000" dirty="0"/>
          </a:p>
        </p:txBody>
      </p:sp>
      <p:sp>
        <p:nvSpPr>
          <p:cNvPr id="10" name="Shape 8"/>
          <p:cNvSpPr/>
          <p:nvPr/>
        </p:nvSpPr>
        <p:spPr>
          <a:xfrm>
            <a:off x="3712464" y="822960"/>
            <a:ext cx="1600200" cy="777240"/>
          </a:xfrm>
          <a:prstGeom prst="rect">
            <a:avLst/>
          </a:prstGeom>
          <a:solidFill>
            <a:srgbClr val="D97706"/>
          </a:solidFill>
          <a:ln/>
          <a:effectLst>
            <a:outerShdw sx="100000" sy="100000" kx="0" ky="0" algn="bl" rotWithShape="0" blurRad="101600" dist="38100" dir="8100000">
              <a:srgbClr val="000000">
                <a:alpha val="12000"/>
              </a:srgbClr>
            </a:outerShdw>
          </a:effectLst>
        </p:spPr>
      </p:sp>
      <p:sp>
        <p:nvSpPr>
          <p:cNvPr id="11" name="Text 9"/>
          <p:cNvSpPr/>
          <p:nvPr/>
        </p:nvSpPr>
        <p:spPr>
          <a:xfrm>
            <a:off x="3712464" y="841248"/>
            <a:ext cx="1600200" cy="384048"/>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16</a:t>
            </a:r>
            <a:endParaRPr lang="en-US" sz="2400" dirty="0"/>
          </a:p>
        </p:txBody>
      </p:sp>
      <p:sp>
        <p:nvSpPr>
          <p:cNvPr id="12" name="Text 10"/>
          <p:cNvSpPr/>
          <p:nvPr/>
        </p:nvSpPr>
        <p:spPr>
          <a:xfrm>
            <a:off x="3712464" y="1225296"/>
            <a:ext cx="1600200" cy="32918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MEDIUM Risk</a:t>
            </a:r>
            <a:endParaRPr lang="en-US" sz="1000" dirty="0"/>
          </a:p>
        </p:txBody>
      </p:sp>
      <p:sp>
        <p:nvSpPr>
          <p:cNvPr id="13" name="Shape 11"/>
          <p:cNvSpPr/>
          <p:nvPr/>
        </p:nvSpPr>
        <p:spPr>
          <a:xfrm>
            <a:off x="5477256" y="822960"/>
            <a:ext cx="1600200" cy="777240"/>
          </a:xfrm>
          <a:prstGeom prst="rect">
            <a:avLst/>
          </a:prstGeom>
          <a:solidFill>
            <a:srgbClr val="DC2626"/>
          </a:solidFill>
          <a:ln/>
          <a:effectLst>
            <a:outerShdw sx="100000" sy="100000" kx="0" ky="0" algn="bl" rotWithShape="0" blurRad="101600" dist="38100" dir="8100000">
              <a:srgbClr val="000000">
                <a:alpha val="12000"/>
              </a:srgbClr>
            </a:outerShdw>
          </a:effectLst>
        </p:spPr>
      </p:sp>
      <p:sp>
        <p:nvSpPr>
          <p:cNvPr id="14" name="Text 12"/>
          <p:cNvSpPr/>
          <p:nvPr/>
        </p:nvSpPr>
        <p:spPr>
          <a:xfrm>
            <a:off x="5477256" y="841248"/>
            <a:ext cx="1600200" cy="384048"/>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12</a:t>
            </a:r>
            <a:endParaRPr lang="en-US" sz="2400" dirty="0"/>
          </a:p>
        </p:txBody>
      </p:sp>
      <p:sp>
        <p:nvSpPr>
          <p:cNvPr id="15" name="Text 13"/>
          <p:cNvSpPr/>
          <p:nvPr/>
        </p:nvSpPr>
        <p:spPr>
          <a:xfrm>
            <a:off x="5477256" y="1225296"/>
            <a:ext cx="1600200" cy="32918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HIGH Risk</a:t>
            </a:r>
            <a:endParaRPr lang="en-US" sz="1000" dirty="0"/>
          </a:p>
        </p:txBody>
      </p:sp>
      <p:sp>
        <p:nvSpPr>
          <p:cNvPr id="16" name="Shape 14"/>
          <p:cNvSpPr/>
          <p:nvPr/>
        </p:nvSpPr>
        <p:spPr>
          <a:xfrm>
            <a:off x="7242048" y="822960"/>
            <a:ext cx="1600200" cy="777240"/>
          </a:xfrm>
          <a:prstGeom prst="rect">
            <a:avLst/>
          </a:prstGeom>
          <a:solidFill>
            <a:srgbClr val="059669"/>
          </a:solidFill>
          <a:ln/>
          <a:effectLst>
            <a:outerShdw sx="100000" sy="100000" kx="0" ky="0" algn="bl" rotWithShape="0" blurRad="101600" dist="38100" dir="8100000">
              <a:srgbClr val="000000">
                <a:alpha val="12000"/>
              </a:srgbClr>
            </a:outerShdw>
          </a:effectLst>
        </p:spPr>
      </p:sp>
      <p:sp>
        <p:nvSpPr>
          <p:cNvPr id="17" name="Text 15"/>
          <p:cNvSpPr/>
          <p:nvPr/>
        </p:nvSpPr>
        <p:spPr>
          <a:xfrm>
            <a:off x="7242048" y="841248"/>
            <a:ext cx="1600200" cy="384048"/>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11</a:t>
            </a:r>
            <a:endParaRPr lang="en-US" sz="2400" dirty="0"/>
          </a:p>
        </p:txBody>
      </p:sp>
      <p:sp>
        <p:nvSpPr>
          <p:cNvPr id="18" name="Text 16"/>
          <p:cNvSpPr/>
          <p:nvPr/>
        </p:nvSpPr>
        <p:spPr>
          <a:xfrm>
            <a:off x="7242048" y="1225296"/>
            <a:ext cx="1600200" cy="32918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LOW Risk</a:t>
            </a:r>
            <a:endParaRPr lang="en-US" sz="1000" dirty="0"/>
          </a:p>
        </p:txBody>
      </p:sp>
      <p:sp>
        <p:nvSpPr>
          <p:cNvPr id="19" name="Shape 17"/>
          <p:cNvSpPr/>
          <p:nvPr/>
        </p:nvSpPr>
        <p:spPr>
          <a:xfrm>
            <a:off x="182880" y="1737360"/>
            <a:ext cx="914400" cy="402336"/>
          </a:xfrm>
          <a:prstGeom prst="rect">
            <a:avLst/>
          </a:prstGeom>
          <a:solidFill>
            <a:srgbClr val="1B3A5C"/>
          </a:solidFill>
          <a:ln w="12700">
            <a:solidFill>
              <a:srgbClr val="E2E8F0"/>
            </a:solidFill>
            <a:prstDash val="solid"/>
          </a:ln>
        </p:spPr>
      </p:sp>
      <p:sp>
        <p:nvSpPr>
          <p:cNvPr id="20" name="Text 18"/>
          <p:cNvSpPr/>
          <p:nvPr/>
        </p:nvSpPr>
        <p:spPr>
          <a:xfrm>
            <a:off x="219456" y="1737360"/>
            <a:ext cx="859536" cy="402336"/>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TC ID</a:t>
            </a:r>
            <a:endParaRPr lang="en-US" sz="1100" dirty="0"/>
          </a:p>
        </p:txBody>
      </p:sp>
      <p:sp>
        <p:nvSpPr>
          <p:cNvPr id="21" name="Shape 19"/>
          <p:cNvSpPr/>
          <p:nvPr/>
        </p:nvSpPr>
        <p:spPr>
          <a:xfrm>
            <a:off x="1097280" y="1737360"/>
            <a:ext cx="2834640" cy="402336"/>
          </a:xfrm>
          <a:prstGeom prst="rect">
            <a:avLst/>
          </a:prstGeom>
          <a:solidFill>
            <a:srgbClr val="1B3A5C"/>
          </a:solidFill>
          <a:ln w="12700">
            <a:solidFill>
              <a:srgbClr val="E2E8F0"/>
            </a:solidFill>
            <a:prstDash val="solid"/>
          </a:ln>
        </p:spPr>
      </p:sp>
      <p:sp>
        <p:nvSpPr>
          <p:cNvPr id="22" name="Text 20"/>
          <p:cNvSpPr/>
          <p:nvPr/>
        </p:nvSpPr>
        <p:spPr>
          <a:xfrm>
            <a:off x="1133856" y="1737360"/>
            <a:ext cx="2779776" cy="402336"/>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3" name="Shape 21"/>
          <p:cNvSpPr/>
          <p:nvPr/>
        </p:nvSpPr>
        <p:spPr>
          <a:xfrm>
            <a:off x="3931920" y="1737360"/>
            <a:ext cx="777240" cy="402336"/>
          </a:xfrm>
          <a:prstGeom prst="rect">
            <a:avLst/>
          </a:prstGeom>
          <a:solidFill>
            <a:srgbClr val="1B3A5C"/>
          </a:solidFill>
          <a:ln w="12700">
            <a:solidFill>
              <a:srgbClr val="E2E8F0"/>
            </a:solidFill>
            <a:prstDash val="solid"/>
          </a:ln>
        </p:spPr>
      </p:sp>
      <p:sp>
        <p:nvSpPr>
          <p:cNvPr id="24" name="Text 22"/>
          <p:cNvSpPr/>
          <p:nvPr/>
        </p:nvSpPr>
        <p:spPr>
          <a:xfrm>
            <a:off x="3968496" y="1737360"/>
            <a:ext cx="72237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Score</a:t>
            </a:r>
            <a:endParaRPr lang="en-US" sz="1100" dirty="0"/>
          </a:p>
        </p:txBody>
      </p:sp>
      <p:sp>
        <p:nvSpPr>
          <p:cNvPr id="25" name="Shape 23"/>
          <p:cNvSpPr/>
          <p:nvPr/>
        </p:nvSpPr>
        <p:spPr>
          <a:xfrm>
            <a:off x="4709160" y="1737360"/>
            <a:ext cx="1645920" cy="402336"/>
          </a:xfrm>
          <a:prstGeom prst="rect">
            <a:avLst/>
          </a:prstGeom>
          <a:solidFill>
            <a:srgbClr val="1B3A5C"/>
          </a:solidFill>
          <a:ln w="12700">
            <a:solidFill>
              <a:srgbClr val="E2E8F0"/>
            </a:solidFill>
            <a:prstDash val="solid"/>
          </a:ln>
        </p:spPr>
      </p:sp>
      <p:sp>
        <p:nvSpPr>
          <p:cNvPr id="26" name="Text 24"/>
          <p:cNvSpPr/>
          <p:nvPr/>
        </p:nvSpPr>
        <p:spPr>
          <a:xfrm>
            <a:off x="4745736" y="1737360"/>
            <a:ext cx="1591056" cy="402336"/>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p:txBody>
      </p:sp>
      <p:sp>
        <p:nvSpPr>
          <p:cNvPr id="27" name="Shape 25"/>
          <p:cNvSpPr/>
          <p:nvPr/>
        </p:nvSpPr>
        <p:spPr>
          <a:xfrm>
            <a:off x="6355080" y="1737360"/>
            <a:ext cx="1280160" cy="402336"/>
          </a:xfrm>
          <a:prstGeom prst="rect">
            <a:avLst/>
          </a:prstGeom>
          <a:solidFill>
            <a:srgbClr val="1B3A5C"/>
          </a:solidFill>
          <a:ln w="12700">
            <a:solidFill>
              <a:srgbClr val="E2E8F0"/>
            </a:solidFill>
            <a:prstDash val="solid"/>
          </a:ln>
        </p:spPr>
      </p:sp>
      <p:sp>
        <p:nvSpPr>
          <p:cNvPr id="28" name="Text 26"/>
          <p:cNvSpPr/>
          <p:nvPr/>
        </p:nvSpPr>
        <p:spPr>
          <a:xfrm>
            <a:off x="6391656" y="1737360"/>
            <a:ext cx="1225296" cy="402336"/>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p>
        </p:txBody>
      </p:sp>
      <p:sp>
        <p:nvSpPr>
          <p:cNvPr id="29" name="Shape 27"/>
          <p:cNvSpPr/>
          <p:nvPr/>
        </p:nvSpPr>
        <p:spPr>
          <a:xfrm>
            <a:off x="182880" y="2157984"/>
            <a:ext cx="914400" cy="402336"/>
          </a:xfrm>
          <a:prstGeom prst="rect">
            <a:avLst/>
          </a:prstGeom>
          <a:solidFill>
            <a:srgbClr val="F0F4F8"/>
          </a:solidFill>
          <a:ln w="12700">
            <a:solidFill>
              <a:srgbClr val="E2E8F0"/>
            </a:solidFill>
            <a:prstDash val="solid"/>
          </a:ln>
        </p:spPr>
      </p:sp>
      <p:sp>
        <p:nvSpPr>
          <p:cNvPr id="30" name="Text 28"/>
          <p:cNvSpPr/>
          <p:nvPr/>
        </p:nvSpPr>
        <p:spPr>
          <a:xfrm>
            <a:off x="219456" y="2157984"/>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TC_001</a:t>
            </a:r>
            <a:endParaRPr lang="en-US" sz="1050" dirty="0"/>
          </a:p>
        </p:txBody>
      </p:sp>
      <p:sp>
        <p:nvSpPr>
          <p:cNvPr id="31" name="Shape 29"/>
          <p:cNvSpPr/>
          <p:nvPr/>
        </p:nvSpPr>
        <p:spPr>
          <a:xfrm>
            <a:off x="1097280" y="2157984"/>
            <a:ext cx="2834640" cy="402336"/>
          </a:xfrm>
          <a:prstGeom prst="rect">
            <a:avLst/>
          </a:prstGeom>
          <a:solidFill>
            <a:srgbClr val="F0F4F8"/>
          </a:solidFill>
          <a:ln w="12700">
            <a:solidFill>
              <a:srgbClr val="E2E8F0"/>
            </a:solidFill>
            <a:prstDash val="solid"/>
          </a:ln>
        </p:spPr>
      </p:sp>
      <p:sp>
        <p:nvSpPr>
          <p:cNvPr id="32" name="Text 30"/>
          <p:cNvSpPr/>
          <p:nvPr/>
        </p:nvSpPr>
        <p:spPr>
          <a:xfrm>
            <a:off x="1133856" y="2157984"/>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Normal working-hours login</a:t>
            </a:r>
            <a:endParaRPr lang="en-US" sz="1050" dirty="0"/>
          </a:p>
        </p:txBody>
      </p:sp>
      <p:sp>
        <p:nvSpPr>
          <p:cNvPr id="33" name="Shape 31"/>
          <p:cNvSpPr/>
          <p:nvPr/>
        </p:nvSpPr>
        <p:spPr>
          <a:xfrm>
            <a:off x="3931920" y="2157984"/>
            <a:ext cx="777240" cy="402336"/>
          </a:xfrm>
          <a:prstGeom prst="rect">
            <a:avLst/>
          </a:prstGeom>
          <a:solidFill>
            <a:srgbClr val="F0F4F8"/>
          </a:solidFill>
          <a:ln w="12700">
            <a:solidFill>
              <a:srgbClr val="E2E8F0"/>
            </a:solidFill>
            <a:prstDash val="solid"/>
          </a:ln>
        </p:spPr>
      </p:sp>
      <p:sp>
        <p:nvSpPr>
          <p:cNvPr id="34" name="Text 32"/>
          <p:cNvSpPr/>
          <p:nvPr/>
        </p:nvSpPr>
        <p:spPr>
          <a:xfrm>
            <a:off x="3968496" y="2157984"/>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82</a:t>
            </a:r>
            <a:endParaRPr lang="en-US" sz="1050" dirty="0"/>
          </a:p>
        </p:txBody>
      </p:sp>
      <p:sp>
        <p:nvSpPr>
          <p:cNvPr id="35" name="Shape 33"/>
          <p:cNvSpPr/>
          <p:nvPr/>
        </p:nvSpPr>
        <p:spPr>
          <a:xfrm>
            <a:off x="4709160" y="2157984"/>
            <a:ext cx="1645920" cy="402336"/>
          </a:xfrm>
          <a:prstGeom prst="rect">
            <a:avLst/>
          </a:prstGeom>
          <a:solidFill>
            <a:srgbClr val="ECFDF5"/>
          </a:solidFill>
          <a:ln w="12700">
            <a:solidFill>
              <a:srgbClr val="E2E8F0"/>
            </a:solidFill>
            <a:prstDash val="solid"/>
          </a:ln>
        </p:spPr>
      </p:sp>
      <p:sp>
        <p:nvSpPr>
          <p:cNvPr id="36" name="Text 34"/>
          <p:cNvSpPr/>
          <p:nvPr/>
        </p:nvSpPr>
        <p:spPr>
          <a:xfrm>
            <a:off x="4745736" y="2157984"/>
            <a:ext cx="1591056" cy="402336"/>
          </a:xfrm>
          <a:prstGeom prst="rect">
            <a:avLst/>
          </a:prstGeom>
          <a:noFill/>
          <a:ln/>
        </p:spPr>
        <p:txBody>
          <a:bodyPr wrap="square" rtlCol="0" anchor="ctr"/>
          <a:lstStyle/>
          <a:p>
            <a:pPr algn="l" indent="0" marL="0">
              <a:buNone/>
            </a:pPr>
            <a:r>
              <a:rPr lang="en-US" sz="1050" dirty="0">
                <a:solidFill>
                  <a:srgbClr val="059669"/>
                </a:solidFill>
                <a:latin typeface="Calibri" pitchFamily="34" charset="0"/>
                <a:ea typeface="Calibri" pitchFamily="34" charset="-122"/>
                <a:cs typeface="Calibri" pitchFamily="34" charset="-120"/>
              </a:rPr>
              <a:t>LOW → ALLOW</a:t>
            </a:r>
            <a:endParaRPr lang="en-US" sz="1050" dirty="0"/>
          </a:p>
        </p:txBody>
      </p:sp>
      <p:sp>
        <p:nvSpPr>
          <p:cNvPr id="37" name="Shape 35"/>
          <p:cNvSpPr/>
          <p:nvPr/>
        </p:nvSpPr>
        <p:spPr>
          <a:xfrm>
            <a:off x="6355080" y="2157984"/>
            <a:ext cx="1280160" cy="402336"/>
          </a:xfrm>
          <a:prstGeom prst="rect">
            <a:avLst/>
          </a:prstGeom>
          <a:solidFill>
            <a:srgbClr val="F0F4F8"/>
          </a:solidFill>
          <a:ln w="12700">
            <a:solidFill>
              <a:srgbClr val="E2E8F0"/>
            </a:solidFill>
            <a:prstDash val="solid"/>
          </a:ln>
        </p:spPr>
      </p:sp>
      <p:sp>
        <p:nvSpPr>
          <p:cNvPr id="38" name="Text 36"/>
          <p:cNvSpPr/>
          <p:nvPr/>
        </p:nvSpPr>
        <p:spPr>
          <a:xfrm>
            <a:off x="6391656" y="2157984"/>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Functional</a:t>
            </a:r>
            <a:endParaRPr lang="en-US" sz="1050" dirty="0"/>
          </a:p>
        </p:txBody>
      </p:sp>
      <p:sp>
        <p:nvSpPr>
          <p:cNvPr id="39" name="Shape 37"/>
          <p:cNvSpPr/>
          <p:nvPr/>
        </p:nvSpPr>
        <p:spPr>
          <a:xfrm>
            <a:off x="182880" y="2578608"/>
            <a:ext cx="914400" cy="402336"/>
          </a:xfrm>
          <a:prstGeom prst="rect">
            <a:avLst/>
          </a:prstGeom>
          <a:solidFill>
            <a:srgbClr val="FFFFFF"/>
          </a:solidFill>
          <a:ln w="12700">
            <a:solidFill>
              <a:srgbClr val="E2E8F0"/>
            </a:solidFill>
            <a:prstDash val="solid"/>
          </a:ln>
        </p:spPr>
      </p:sp>
      <p:sp>
        <p:nvSpPr>
          <p:cNvPr id="40" name="Text 38"/>
          <p:cNvSpPr/>
          <p:nvPr/>
        </p:nvSpPr>
        <p:spPr>
          <a:xfrm>
            <a:off x="219456" y="2578608"/>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TC_004</a:t>
            </a:r>
            <a:endParaRPr lang="en-US" sz="1050" dirty="0"/>
          </a:p>
        </p:txBody>
      </p:sp>
      <p:sp>
        <p:nvSpPr>
          <p:cNvPr id="41" name="Shape 39"/>
          <p:cNvSpPr/>
          <p:nvPr/>
        </p:nvSpPr>
        <p:spPr>
          <a:xfrm>
            <a:off x="1097280" y="2578608"/>
            <a:ext cx="2834640" cy="402336"/>
          </a:xfrm>
          <a:prstGeom prst="rect">
            <a:avLst/>
          </a:prstGeom>
          <a:solidFill>
            <a:srgbClr val="FFFFFF"/>
          </a:solidFill>
          <a:ln w="12700">
            <a:solidFill>
              <a:srgbClr val="E2E8F0"/>
            </a:solidFill>
            <a:prstDash val="solid"/>
          </a:ln>
        </p:spPr>
      </p:sp>
      <p:sp>
        <p:nvSpPr>
          <p:cNvPr id="42" name="Text 40"/>
          <p:cNvSpPr/>
          <p:nvPr/>
        </p:nvSpPr>
        <p:spPr>
          <a:xfrm>
            <a:off x="1133856" y="2578608"/>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Unusual time (3 AM login)</a:t>
            </a:r>
            <a:endParaRPr lang="en-US" sz="1050" dirty="0"/>
          </a:p>
        </p:txBody>
      </p:sp>
      <p:sp>
        <p:nvSpPr>
          <p:cNvPr id="43" name="Shape 41"/>
          <p:cNvSpPr/>
          <p:nvPr/>
        </p:nvSpPr>
        <p:spPr>
          <a:xfrm>
            <a:off x="3931920" y="2578608"/>
            <a:ext cx="777240" cy="402336"/>
          </a:xfrm>
          <a:prstGeom prst="rect">
            <a:avLst/>
          </a:prstGeom>
          <a:solidFill>
            <a:srgbClr val="FFFFFF"/>
          </a:solidFill>
          <a:ln w="12700">
            <a:solidFill>
              <a:srgbClr val="E2E8F0"/>
            </a:solidFill>
            <a:prstDash val="solid"/>
          </a:ln>
        </p:spPr>
      </p:sp>
      <p:sp>
        <p:nvSpPr>
          <p:cNvPr id="44" name="Text 42"/>
          <p:cNvSpPr/>
          <p:nvPr/>
        </p:nvSpPr>
        <p:spPr>
          <a:xfrm>
            <a:off x="3968496" y="2578608"/>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54</a:t>
            </a:r>
            <a:endParaRPr lang="en-US" sz="1050" dirty="0"/>
          </a:p>
        </p:txBody>
      </p:sp>
      <p:sp>
        <p:nvSpPr>
          <p:cNvPr id="45" name="Shape 43"/>
          <p:cNvSpPr/>
          <p:nvPr/>
        </p:nvSpPr>
        <p:spPr>
          <a:xfrm>
            <a:off x="4709160" y="2578608"/>
            <a:ext cx="1645920" cy="402336"/>
          </a:xfrm>
          <a:prstGeom prst="rect">
            <a:avLst/>
          </a:prstGeom>
          <a:solidFill>
            <a:srgbClr val="FFFBEB"/>
          </a:solidFill>
          <a:ln w="12700">
            <a:solidFill>
              <a:srgbClr val="E2E8F0"/>
            </a:solidFill>
            <a:prstDash val="solid"/>
          </a:ln>
        </p:spPr>
      </p:sp>
      <p:sp>
        <p:nvSpPr>
          <p:cNvPr id="46" name="Text 44"/>
          <p:cNvSpPr/>
          <p:nvPr/>
        </p:nvSpPr>
        <p:spPr>
          <a:xfrm>
            <a:off x="4745736" y="2578608"/>
            <a:ext cx="1591056" cy="402336"/>
          </a:xfrm>
          <a:prstGeom prst="rect">
            <a:avLst/>
          </a:prstGeom>
          <a:noFill/>
          <a:ln/>
        </p:spPr>
        <p:txBody>
          <a:bodyPr wrap="square" rtlCol="0" anchor="ctr"/>
          <a:lstStyle/>
          <a:p>
            <a:pPr algn="l" indent="0" marL="0">
              <a:buNone/>
            </a:pPr>
            <a:r>
              <a:rPr lang="en-US" sz="1050" dirty="0">
                <a:solidFill>
                  <a:srgbClr val="D97706"/>
                </a:solidFill>
                <a:latin typeface="Calibri" pitchFamily="34" charset="0"/>
                <a:ea typeface="Calibri" pitchFamily="34" charset="-122"/>
                <a:cs typeface="Calibri" pitchFamily="34" charset="-120"/>
              </a:rPr>
              <a:t>MEDIUM → STEP-UP</a:t>
            </a:r>
            <a:endParaRPr lang="en-US" sz="1050" dirty="0"/>
          </a:p>
        </p:txBody>
      </p:sp>
      <p:sp>
        <p:nvSpPr>
          <p:cNvPr id="47" name="Shape 45"/>
          <p:cNvSpPr/>
          <p:nvPr/>
        </p:nvSpPr>
        <p:spPr>
          <a:xfrm>
            <a:off x="6355080" y="2578608"/>
            <a:ext cx="1280160" cy="402336"/>
          </a:xfrm>
          <a:prstGeom prst="rect">
            <a:avLst/>
          </a:prstGeom>
          <a:solidFill>
            <a:srgbClr val="FFFFFF"/>
          </a:solidFill>
          <a:ln w="12700">
            <a:solidFill>
              <a:srgbClr val="E2E8F0"/>
            </a:solidFill>
            <a:prstDash val="solid"/>
          </a:ln>
        </p:spPr>
      </p:sp>
      <p:sp>
        <p:nvSpPr>
          <p:cNvPr id="48" name="Text 46"/>
          <p:cNvSpPr/>
          <p:nvPr/>
        </p:nvSpPr>
        <p:spPr>
          <a:xfrm>
            <a:off x="6391656" y="2578608"/>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Security</a:t>
            </a:r>
            <a:endParaRPr lang="en-US" sz="1050" dirty="0"/>
          </a:p>
        </p:txBody>
      </p:sp>
      <p:sp>
        <p:nvSpPr>
          <p:cNvPr id="49" name="Shape 47"/>
          <p:cNvSpPr/>
          <p:nvPr/>
        </p:nvSpPr>
        <p:spPr>
          <a:xfrm>
            <a:off x="182880" y="2999232"/>
            <a:ext cx="914400" cy="402336"/>
          </a:xfrm>
          <a:prstGeom prst="rect">
            <a:avLst/>
          </a:prstGeom>
          <a:solidFill>
            <a:srgbClr val="F0F4F8"/>
          </a:solidFill>
          <a:ln w="12700">
            <a:solidFill>
              <a:srgbClr val="E2E8F0"/>
            </a:solidFill>
            <a:prstDash val="solid"/>
          </a:ln>
        </p:spPr>
      </p:sp>
      <p:sp>
        <p:nvSpPr>
          <p:cNvPr id="50" name="Text 48"/>
          <p:cNvSpPr/>
          <p:nvPr/>
        </p:nvSpPr>
        <p:spPr>
          <a:xfrm>
            <a:off x="219456" y="2999232"/>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TC_009</a:t>
            </a:r>
            <a:endParaRPr lang="en-US" sz="1050" dirty="0"/>
          </a:p>
        </p:txBody>
      </p:sp>
      <p:sp>
        <p:nvSpPr>
          <p:cNvPr id="51" name="Shape 49"/>
          <p:cNvSpPr/>
          <p:nvPr/>
        </p:nvSpPr>
        <p:spPr>
          <a:xfrm>
            <a:off x="1097280" y="2999232"/>
            <a:ext cx="2834640" cy="402336"/>
          </a:xfrm>
          <a:prstGeom prst="rect">
            <a:avLst/>
          </a:prstGeom>
          <a:solidFill>
            <a:srgbClr val="F0F4F8"/>
          </a:solidFill>
          <a:ln w="12700">
            <a:solidFill>
              <a:srgbClr val="E2E8F0"/>
            </a:solidFill>
            <a:prstDash val="solid"/>
          </a:ln>
        </p:spPr>
      </p:sp>
      <p:sp>
        <p:nvSpPr>
          <p:cNvPr id="52" name="Text 50"/>
          <p:cNvSpPr/>
          <p:nvPr/>
        </p:nvSpPr>
        <p:spPr>
          <a:xfrm>
            <a:off x="1133856" y="2999232"/>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Brute-force + new device + VPN</a:t>
            </a:r>
            <a:endParaRPr lang="en-US" sz="1050" dirty="0"/>
          </a:p>
        </p:txBody>
      </p:sp>
      <p:sp>
        <p:nvSpPr>
          <p:cNvPr id="53" name="Shape 51"/>
          <p:cNvSpPr/>
          <p:nvPr/>
        </p:nvSpPr>
        <p:spPr>
          <a:xfrm>
            <a:off x="3931920" y="2999232"/>
            <a:ext cx="777240" cy="402336"/>
          </a:xfrm>
          <a:prstGeom prst="rect">
            <a:avLst/>
          </a:prstGeom>
          <a:solidFill>
            <a:srgbClr val="F0F4F8"/>
          </a:solidFill>
          <a:ln w="12700">
            <a:solidFill>
              <a:srgbClr val="E2E8F0"/>
            </a:solidFill>
            <a:prstDash val="solid"/>
          </a:ln>
        </p:spPr>
      </p:sp>
      <p:sp>
        <p:nvSpPr>
          <p:cNvPr id="54" name="Text 52"/>
          <p:cNvSpPr/>
          <p:nvPr/>
        </p:nvSpPr>
        <p:spPr>
          <a:xfrm>
            <a:off x="3968496" y="2999232"/>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18</a:t>
            </a:r>
            <a:endParaRPr lang="en-US" sz="1050" dirty="0"/>
          </a:p>
        </p:txBody>
      </p:sp>
      <p:sp>
        <p:nvSpPr>
          <p:cNvPr id="55" name="Shape 53"/>
          <p:cNvSpPr/>
          <p:nvPr/>
        </p:nvSpPr>
        <p:spPr>
          <a:xfrm>
            <a:off x="4709160" y="2999232"/>
            <a:ext cx="1645920" cy="402336"/>
          </a:xfrm>
          <a:prstGeom prst="rect">
            <a:avLst/>
          </a:prstGeom>
          <a:solidFill>
            <a:srgbClr val="FEF2F2"/>
          </a:solidFill>
          <a:ln w="12700">
            <a:solidFill>
              <a:srgbClr val="E2E8F0"/>
            </a:solidFill>
            <a:prstDash val="solid"/>
          </a:ln>
        </p:spPr>
      </p:sp>
      <p:sp>
        <p:nvSpPr>
          <p:cNvPr id="56" name="Text 54"/>
          <p:cNvSpPr/>
          <p:nvPr/>
        </p:nvSpPr>
        <p:spPr>
          <a:xfrm>
            <a:off x="4745736" y="2999232"/>
            <a:ext cx="1591056" cy="402336"/>
          </a:xfrm>
          <a:prstGeom prst="rect">
            <a:avLst/>
          </a:prstGeom>
          <a:noFill/>
          <a:ln/>
        </p:spPr>
        <p:txBody>
          <a:bodyPr wrap="square" rtlCol="0" anchor="ctr"/>
          <a:lstStyle/>
          <a:p>
            <a:pPr algn="l" indent="0" marL="0">
              <a:buNone/>
            </a:pPr>
            <a:r>
              <a:rPr lang="en-US" sz="1050" dirty="0">
                <a:solidFill>
                  <a:srgbClr val="DC2626"/>
                </a:solidFill>
                <a:latin typeface="Calibri" pitchFamily="34" charset="0"/>
                <a:ea typeface="Calibri" pitchFamily="34" charset="-122"/>
                <a:cs typeface="Calibri" pitchFamily="34" charset="-120"/>
              </a:rPr>
              <a:t>HIGH → BLOCK</a:t>
            </a:r>
            <a:endParaRPr lang="en-US" sz="1050" dirty="0"/>
          </a:p>
        </p:txBody>
      </p:sp>
      <p:sp>
        <p:nvSpPr>
          <p:cNvPr id="57" name="Shape 55"/>
          <p:cNvSpPr/>
          <p:nvPr/>
        </p:nvSpPr>
        <p:spPr>
          <a:xfrm>
            <a:off x="6355080" y="2999232"/>
            <a:ext cx="1280160" cy="402336"/>
          </a:xfrm>
          <a:prstGeom prst="rect">
            <a:avLst/>
          </a:prstGeom>
          <a:solidFill>
            <a:srgbClr val="F0F4F8"/>
          </a:solidFill>
          <a:ln w="12700">
            <a:solidFill>
              <a:srgbClr val="E2E8F0"/>
            </a:solidFill>
            <a:prstDash val="solid"/>
          </a:ln>
        </p:spPr>
      </p:sp>
      <p:sp>
        <p:nvSpPr>
          <p:cNvPr id="58" name="Text 56"/>
          <p:cNvSpPr/>
          <p:nvPr/>
        </p:nvSpPr>
        <p:spPr>
          <a:xfrm>
            <a:off x="6391656" y="2999232"/>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Security</a:t>
            </a:r>
            <a:endParaRPr lang="en-US" sz="1050" dirty="0"/>
          </a:p>
        </p:txBody>
      </p:sp>
      <p:sp>
        <p:nvSpPr>
          <p:cNvPr id="59" name="Shape 57"/>
          <p:cNvSpPr/>
          <p:nvPr/>
        </p:nvSpPr>
        <p:spPr>
          <a:xfrm>
            <a:off x="182880" y="3419856"/>
            <a:ext cx="914400" cy="402336"/>
          </a:xfrm>
          <a:prstGeom prst="rect">
            <a:avLst/>
          </a:prstGeom>
          <a:solidFill>
            <a:srgbClr val="FFFFFF"/>
          </a:solidFill>
          <a:ln w="12700">
            <a:solidFill>
              <a:srgbClr val="E2E8F0"/>
            </a:solidFill>
            <a:prstDash val="solid"/>
          </a:ln>
        </p:spPr>
      </p:sp>
      <p:sp>
        <p:nvSpPr>
          <p:cNvPr id="60" name="Text 58"/>
          <p:cNvSpPr/>
          <p:nvPr/>
        </p:nvSpPr>
        <p:spPr>
          <a:xfrm>
            <a:off x="219456" y="3419856"/>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TC_021</a:t>
            </a:r>
            <a:endParaRPr lang="en-US" sz="1050" dirty="0"/>
          </a:p>
        </p:txBody>
      </p:sp>
      <p:sp>
        <p:nvSpPr>
          <p:cNvPr id="61" name="Shape 59"/>
          <p:cNvSpPr/>
          <p:nvPr/>
        </p:nvSpPr>
        <p:spPr>
          <a:xfrm>
            <a:off x="1097280" y="3419856"/>
            <a:ext cx="2834640" cy="402336"/>
          </a:xfrm>
          <a:prstGeom prst="rect">
            <a:avLst/>
          </a:prstGeom>
          <a:solidFill>
            <a:srgbClr val="FFFFFF"/>
          </a:solidFill>
          <a:ln w="12700">
            <a:solidFill>
              <a:srgbClr val="E2E8F0"/>
            </a:solidFill>
            <a:prstDash val="solid"/>
          </a:ln>
        </p:spPr>
      </p:sp>
      <p:sp>
        <p:nvSpPr>
          <p:cNvPr id="62" name="Text 60"/>
          <p:cNvSpPr/>
          <p:nvPr/>
        </p:nvSpPr>
        <p:spPr>
          <a:xfrm>
            <a:off x="1133856" y="3419856"/>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Impossible travel (2 continents)</a:t>
            </a:r>
            <a:endParaRPr lang="en-US" sz="1050" dirty="0"/>
          </a:p>
        </p:txBody>
      </p:sp>
      <p:sp>
        <p:nvSpPr>
          <p:cNvPr id="63" name="Shape 61"/>
          <p:cNvSpPr/>
          <p:nvPr/>
        </p:nvSpPr>
        <p:spPr>
          <a:xfrm>
            <a:off x="3931920" y="3419856"/>
            <a:ext cx="777240" cy="402336"/>
          </a:xfrm>
          <a:prstGeom prst="rect">
            <a:avLst/>
          </a:prstGeom>
          <a:solidFill>
            <a:srgbClr val="FFFFFF"/>
          </a:solidFill>
          <a:ln w="12700">
            <a:solidFill>
              <a:srgbClr val="E2E8F0"/>
            </a:solidFill>
            <a:prstDash val="solid"/>
          </a:ln>
        </p:spPr>
      </p:sp>
      <p:sp>
        <p:nvSpPr>
          <p:cNvPr id="64" name="Text 62"/>
          <p:cNvSpPr/>
          <p:nvPr/>
        </p:nvSpPr>
        <p:spPr>
          <a:xfrm>
            <a:off x="3968496" y="3419856"/>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22</a:t>
            </a:r>
            <a:endParaRPr lang="en-US" sz="1050" dirty="0"/>
          </a:p>
        </p:txBody>
      </p:sp>
      <p:sp>
        <p:nvSpPr>
          <p:cNvPr id="65" name="Shape 63"/>
          <p:cNvSpPr/>
          <p:nvPr/>
        </p:nvSpPr>
        <p:spPr>
          <a:xfrm>
            <a:off x="4709160" y="3419856"/>
            <a:ext cx="1645920" cy="402336"/>
          </a:xfrm>
          <a:prstGeom prst="rect">
            <a:avLst/>
          </a:prstGeom>
          <a:solidFill>
            <a:srgbClr val="FEF2F2"/>
          </a:solidFill>
          <a:ln w="12700">
            <a:solidFill>
              <a:srgbClr val="E2E8F0"/>
            </a:solidFill>
            <a:prstDash val="solid"/>
          </a:ln>
        </p:spPr>
      </p:sp>
      <p:sp>
        <p:nvSpPr>
          <p:cNvPr id="66" name="Text 64"/>
          <p:cNvSpPr/>
          <p:nvPr/>
        </p:nvSpPr>
        <p:spPr>
          <a:xfrm>
            <a:off x="4745736" y="3419856"/>
            <a:ext cx="1591056" cy="402336"/>
          </a:xfrm>
          <a:prstGeom prst="rect">
            <a:avLst/>
          </a:prstGeom>
          <a:noFill/>
          <a:ln/>
        </p:spPr>
        <p:txBody>
          <a:bodyPr wrap="square" rtlCol="0" anchor="ctr"/>
          <a:lstStyle/>
          <a:p>
            <a:pPr algn="l" indent="0" marL="0">
              <a:buNone/>
            </a:pPr>
            <a:r>
              <a:rPr lang="en-US" sz="1050" dirty="0">
                <a:solidFill>
                  <a:srgbClr val="DC2626"/>
                </a:solidFill>
                <a:latin typeface="Calibri" pitchFamily="34" charset="0"/>
                <a:ea typeface="Calibri" pitchFamily="34" charset="-122"/>
                <a:cs typeface="Calibri" pitchFamily="34" charset="-120"/>
              </a:rPr>
              <a:t>HIGH → BLOCK</a:t>
            </a:r>
            <a:endParaRPr lang="en-US" sz="1050" dirty="0"/>
          </a:p>
        </p:txBody>
      </p:sp>
      <p:sp>
        <p:nvSpPr>
          <p:cNvPr id="67" name="Shape 65"/>
          <p:cNvSpPr/>
          <p:nvPr/>
        </p:nvSpPr>
        <p:spPr>
          <a:xfrm>
            <a:off x="6355080" y="3419856"/>
            <a:ext cx="1280160" cy="402336"/>
          </a:xfrm>
          <a:prstGeom prst="rect">
            <a:avLst/>
          </a:prstGeom>
          <a:solidFill>
            <a:srgbClr val="FFFFFF"/>
          </a:solidFill>
          <a:ln w="12700">
            <a:solidFill>
              <a:srgbClr val="E2E8F0"/>
            </a:solidFill>
            <a:prstDash val="solid"/>
          </a:ln>
        </p:spPr>
      </p:sp>
      <p:sp>
        <p:nvSpPr>
          <p:cNvPr id="68" name="Text 66"/>
          <p:cNvSpPr/>
          <p:nvPr/>
        </p:nvSpPr>
        <p:spPr>
          <a:xfrm>
            <a:off x="6391656" y="3419856"/>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Edge Case</a:t>
            </a:r>
            <a:endParaRPr lang="en-US" sz="1050" dirty="0"/>
          </a:p>
        </p:txBody>
      </p:sp>
      <p:sp>
        <p:nvSpPr>
          <p:cNvPr id="69" name="Shape 67"/>
          <p:cNvSpPr/>
          <p:nvPr/>
        </p:nvSpPr>
        <p:spPr>
          <a:xfrm>
            <a:off x="182880" y="3840480"/>
            <a:ext cx="914400" cy="402336"/>
          </a:xfrm>
          <a:prstGeom prst="rect">
            <a:avLst/>
          </a:prstGeom>
          <a:solidFill>
            <a:srgbClr val="F0F4F8"/>
          </a:solidFill>
          <a:ln w="12700">
            <a:solidFill>
              <a:srgbClr val="E2E8F0"/>
            </a:solidFill>
            <a:prstDash val="solid"/>
          </a:ln>
        </p:spPr>
      </p:sp>
      <p:sp>
        <p:nvSpPr>
          <p:cNvPr id="70" name="Text 68"/>
          <p:cNvSpPr/>
          <p:nvPr/>
        </p:nvSpPr>
        <p:spPr>
          <a:xfrm>
            <a:off x="219456" y="3840480"/>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TC_025</a:t>
            </a:r>
            <a:endParaRPr lang="en-US" sz="1050" dirty="0"/>
          </a:p>
        </p:txBody>
      </p:sp>
      <p:sp>
        <p:nvSpPr>
          <p:cNvPr id="71" name="Shape 69"/>
          <p:cNvSpPr/>
          <p:nvPr/>
        </p:nvSpPr>
        <p:spPr>
          <a:xfrm>
            <a:off x="1097280" y="3840480"/>
            <a:ext cx="2834640" cy="402336"/>
          </a:xfrm>
          <a:prstGeom prst="rect">
            <a:avLst/>
          </a:prstGeom>
          <a:solidFill>
            <a:srgbClr val="F0F4F8"/>
          </a:solidFill>
          <a:ln w="12700">
            <a:solidFill>
              <a:srgbClr val="E2E8F0"/>
            </a:solidFill>
            <a:prstDash val="solid"/>
          </a:ln>
        </p:spPr>
      </p:sp>
      <p:sp>
        <p:nvSpPr>
          <p:cNvPr id="72" name="Text 70"/>
          <p:cNvSpPr/>
          <p:nvPr/>
        </p:nvSpPr>
        <p:spPr>
          <a:xfrm>
            <a:off x="1133856" y="3840480"/>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Suspicious user-agent string</a:t>
            </a:r>
            <a:endParaRPr lang="en-US" sz="1050" dirty="0"/>
          </a:p>
        </p:txBody>
      </p:sp>
      <p:sp>
        <p:nvSpPr>
          <p:cNvPr id="73" name="Shape 71"/>
          <p:cNvSpPr/>
          <p:nvPr/>
        </p:nvSpPr>
        <p:spPr>
          <a:xfrm>
            <a:off x="3931920" y="3840480"/>
            <a:ext cx="777240" cy="402336"/>
          </a:xfrm>
          <a:prstGeom prst="rect">
            <a:avLst/>
          </a:prstGeom>
          <a:solidFill>
            <a:srgbClr val="F0F4F8"/>
          </a:solidFill>
          <a:ln w="12700">
            <a:solidFill>
              <a:srgbClr val="E2E8F0"/>
            </a:solidFill>
            <a:prstDash val="solid"/>
          </a:ln>
        </p:spPr>
      </p:sp>
      <p:sp>
        <p:nvSpPr>
          <p:cNvPr id="74" name="Text 72"/>
          <p:cNvSpPr/>
          <p:nvPr/>
        </p:nvSpPr>
        <p:spPr>
          <a:xfrm>
            <a:off x="3968496" y="3840480"/>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47</a:t>
            </a:r>
            <a:endParaRPr lang="en-US" sz="1050" dirty="0"/>
          </a:p>
        </p:txBody>
      </p:sp>
      <p:sp>
        <p:nvSpPr>
          <p:cNvPr id="75" name="Shape 73"/>
          <p:cNvSpPr/>
          <p:nvPr/>
        </p:nvSpPr>
        <p:spPr>
          <a:xfrm>
            <a:off x="4709160" y="3840480"/>
            <a:ext cx="1645920" cy="402336"/>
          </a:xfrm>
          <a:prstGeom prst="rect">
            <a:avLst/>
          </a:prstGeom>
          <a:solidFill>
            <a:srgbClr val="FFFBEB"/>
          </a:solidFill>
          <a:ln w="12700">
            <a:solidFill>
              <a:srgbClr val="E2E8F0"/>
            </a:solidFill>
            <a:prstDash val="solid"/>
          </a:ln>
        </p:spPr>
      </p:sp>
      <p:sp>
        <p:nvSpPr>
          <p:cNvPr id="76" name="Text 74"/>
          <p:cNvSpPr/>
          <p:nvPr/>
        </p:nvSpPr>
        <p:spPr>
          <a:xfrm>
            <a:off x="4745736" y="3840480"/>
            <a:ext cx="1591056" cy="402336"/>
          </a:xfrm>
          <a:prstGeom prst="rect">
            <a:avLst/>
          </a:prstGeom>
          <a:noFill/>
          <a:ln/>
        </p:spPr>
        <p:txBody>
          <a:bodyPr wrap="square" rtlCol="0" anchor="ctr"/>
          <a:lstStyle/>
          <a:p>
            <a:pPr algn="l" indent="0" marL="0">
              <a:buNone/>
            </a:pPr>
            <a:r>
              <a:rPr lang="en-US" sz="1050" dirty="0">
                <a:solidFill>
                  <a:srgbClr val="D97706"/>
                </a:solidFill>
                <a:latin typeface="Calibri" pitchFamily="34" charset="0"/>
                <a:ea typeface="Calibri" pitchFamily="34" charset="-122"/>
                <a:cs typeface="Calibri" pitchFamily="34" charset="-120"/>
              </a:rPr>
              <a:t>MEDIUM → STEP-UP</a:t>
            </a:r>
            <a:endParaRPr lang="en-US" sz="1050" dirty="0"/>
          </a:p>
        </p:txBody>
      </p:sp>
      <p:sp>
        <p:nvSpPr>
          <p:cNvPr id="77" name="Shape 75"/>
          <p:cNvSpPr/>
          <p:nvPr/>
        </p:nvSpPr>
        <p:spPr>
          <a:xfrm>
            <a:off x="6355080" y="3840480"/>
            <a:ext cx="1280160" cy="402336"/>
          </a:xfrm>
          <a:prstGeom prst="rect">
            <a:avLst/>
          </a:prstGeom>
          <a:solidFill>
            <a:srgbClr val="F0F4F8"/>
          </a:solidFill>
          <a:ln w="12700">
            <a:solidFill>
              <a:srgbClr val="E2E8F0"/>
            </a:solidFill>
            <a:prstDash val="solid"/>
          </a:ln>
        </p:spPr>
      </p:sp>
      <p:sp>
        <p:nvSpPr>
          <p:cNvPr id="78" name="Text 76"/>
          <p:cNvSpPr/>
          <p:nvPr/>
        </p:nvSpPr>
        <p:spPr>
          <a:xfrm>
            <a:off x="6391656" y="3840480"/>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Security</a:t>
            </a:r>
            <a:endParaRPr lang="en-US" sz="1050" dirty="0"/>
          </a:p>
        </p:txBody>
      </p:sp>
      <p:sp>
        <p:nvSpPr>
          <p:cNvPr id="79" name="Shape 77"/>
          <p:cNvSpPr/>
          <p:nvPr/>
        </p:nvSpPr>
        <p:spPr>
          <a:xfrm>
            <a:off x="182880" y="4261104"/>
            <a:ext cx="914400" cy="402336"/>
          </a:xfrm>
          <a:prstGeom prst="rect">
            <a:avLst/>
          </a:prstGeom>
          <a:solidFill>
            <a:srgbClr val="FFFFFF"/>
          </a:solidFill>
          <a:ln w="12700">
            <a:solidFill>
              <a:srgbClr val="E2E8F0"/>
            </a:solidFill>
            <a:prstDash val="solid"/>
          </a:ln>
        </p:spPr>
      </p:sp>
      <p:sp>
        <p:nvSpPr>
          <p:cNvPr id="80" name="Text 78"/>
          <p:cNvSpPr/>
          <p:nvPr/>
        </p:nvSpPr>
        <p:spPr>
          <a:xfrm>
            <a:off x="219456" y="4261104"/>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TC_032</a:t>
            </a:r>
            <a:endParaRPr lang="en-US" sz="1050" dirty="0"/>
          </a:p>
        </p:txBody>
      </p:sp>
      <p:sp>
        <p:nvSpPr>
          <p:cNvPr id="81" name="Shape 79"/>
          <p:cNvSpPr/>
          <p:nvPr/>
        </p:nvSpPr>
        <p:spPr>
          <a:xfrm>
            <a:off x="1097280" y="4261104"/>
            <a:ext cx="2834640" cy="402336"/>
          </a:xfrm>
          <a:prstGeom prst="rect">
            <a:avLst/>
          </a:prstGeom>
          <a:solidFill>
            <a:srgbClr val="FFFFFF"/>
          </a:solidFill>
          <a:ln w="12700">
            <a:solidFill>
              <a:srgbClr val="E2E8F0"/>
            </a:solidFill>
            <a:prstDash val="solid"/>
          </a:ln>
        </p:spPr>
      </p:sp>
      <p:sp>
        <p:nvSpPr>
          <p:cNvPr id="82" name="Text 80"/>
          <p:cNvSpPr/>
          <p:nvPr/>
        </p:nvSpPr>
        <p:spPr>
          <a:xfrm>
            <a:off x="1133856" y="4261104"/>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Session hijack pattern</a:t>
            </a:r>
            <a:endParaRPr lang="en-US" sz="1050" dirty="0"/>
          </a:p>
        </p:txBody>
      </p:sp>
      <p:sp>
        <p:nvSpPr>
          <p:cNvPr id="83" name="Shape 81"/>
          <p:cNvSpPr/>
          <p:nvPr/>
        </p:nvSpPr>
        <p:spPr>
          <a:xfrm>
            <a:off x="3931920" y="4261104"/>
            <a:ext cx="777240" cy="402336"/>
          </a:xfrm>
          <a:prstGeom prst="rect">
            <a:avLst/>
          </a:prstGeom>
          <a:solidFill>
            <a:srgbClr val="FFFFFF"/>
          </a:solidFill>
          <a:ln w="12700">
            <a:solidFill>
              <a:srgbClr val="E2E8F0"/>
            </a:solidFill>
            <a:prstDash val="solid"/>
          </a:ln>
        </p:spPr>
      </p:sp>
      <p:sp>
        <p:nvSpPr>
          <p:cNvPr id="84" name="Text 82"/>
          <p:cNvSpPr/>
          <p:nvPr/>
        </p:nvSpPr>
        <p:spPr>
          <a:xfrm>
            <a:off x="3968496" y="4261104"/>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15</a:t>
            </a:r>
            <a:endParaRPr lang="en-US" sz="1050" dirty="0"/>
          </a:p>
        </p:txBody>
      </p:sp>
      <p:sp>
        <p:nvSpPr>
          <p:cNvPr id="85" name="Shape 83"/>
          <p:cNvSpPr/>
          <p:nvPr/>
        </p:nvSpPr>
        <p:spPr>
          <a:xfrm>
            <a:off x="4709160" y="4261104"/>
            <a:ext cx="1645920" cy="402336"/>
          </a:xfrm>
          <a:prstGeom prst="rect">
            <a:avLst/>
          </a:prstGeom>
          <a:solidFill>
            <a:srgbClr val="FEF2F2"/>
          </a:solidFill>
          <a:ln w="12700">
            <a:solidFill>
              <a:srgbClr val="E2E8F0"/>
            </a:solidFill>
            <a:prstDash val="solid"/>
          </a:ln>
        </p:spPr>
      </p:sp>
      <p:sp>
        <p:nvSpPr>
          <p:cNvPr id="86" name="Text 84"/>
          <p:cNvSpPr/>
          <p:nvPr/>
        </p:nvSpPr>
        <p:spPr>
          <a:xfrm>
            <a:off x="4745736" y="4261104"/>
            <a:ext cx="1591056" cy="402336"/>
          </a:xfrm>
          <a:prstGeom prst="rect">
            <a:avLst/>
          </a:prstGeom>
          <a:noFill/>
          <a:ln/>
        </p:spPr>
        <p:txBody>
          <a:bodyPr wrap="square" rtlCol="0" anchor="ctr"/>
          <a:lstStyle/>
          <a:p>
            <a:pPr algn="l" indent="0" marL="0">
              <a:buNone/>
            </a:pPr>
            <a:r>
              <a:rPr lang="en-US" sz="1050" dirty="0">
                <a:solidFill>
                  <a:srgbClr val="DC2626"/>
                </a:solidFill>
                <a:latin typeface="Calibri" pitchFamily="34" charset="0"/>
                <a:ea typeface="Calibri" pitchFamily="34" charset="-122"/>
                <a:cs typeface="Calibri" pitchFamily="34" charset="-120"/>
              </a:rPr>
              <a:t>HIGH → BLOCK</a:t>
            </a:r>
            <a:endParaRPr lang="en-US" sz="1050" dirty="0"/>
          </a:p>
        </p:txBody>
      </p:sp>
      <p:sp>
        <p:nvSpPr>
          <p:cNvPr id="87" name="Shape 85"/>
          <p:cNvSpPr/>
          <p:nvPr/>
        </p:nvSpPr>
        <p:spPr>
          <a:xfrm>
            <a:off x="6355080" y="4261104"/>
            <a:ext cx="1280160" cy="402336"/>
          </a:xfrm>
          <a:prstGeom prst="rect">
            <a:avLst/>
          </a:prstGeom>
          <a:solidFill>
            <a:srgbClr val="FFFFFF"/>
          </a:solidFill>
          <a:ln w="12700">
            <a:solidFill>
              <a:srgbClr val="E2E8F0"/>
            </a:solidFill>
            <a:prstDash val="solid"/>
          </a:ln>
        </p:spPr>
      </p:sp>
      <p:sp>
        <p:nvSpPr>
          <p:cNvPr id="88" name="Text 86"/>
          <p:cNvSpPr/>
          <p:nvPr/>
        </p:nvSpPr>
        <p:spPr>
          <a:xfrm>
            <a:off x="6391656" y="4261104"/>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Security</a:t>
            </a:r>
            <a:endParaRPr lang="en-US" sz="1050" dirty="0"/>
          </a:p>
        </p:txBody>
      </p:sp>
      <p:sp>
        <p:nvSpPr>
          <p:cNvPr id="89" name="Shape 87"/>
          <p:cNvSpPr/>
          <p:nvPr/>
        </p:nvSpPr>
        <p:spPr>
          <a:xfrm>
            <a:off x="182880" y="4681728"/>
            <a:ext cx="914400" cy="402336"/>
          </a:xfrm>
          <a:prstGeom prst="rect">
            <a:avLst/>
          </a:prstGeom>
          <a:solidFill>
            <a:srgbClr val="F0F4F8"/>
          </a:solidFill>
          <a:ln w="12700">
            <a:solidFill>
              <a:srgbClr val="E2E8F0"/>
            </a:solidFill>
            <a:prstDash val="solid"/>
          </a:ln>
        </p:spPr>
      </p:sp>
      <p:sp>
        <p:nvSpPr>
          <p:cNvPr id="90" name="Text 88"/>
          <p:cNvSpPr/>
          <p:nvPr/>
        </p:nvSpPr>
        <p:spPr>
          <a:xfrm>
            <a:off x="219456" y="4681728"/>
            <a:ext cx="85953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TC_038</a:t>
            </a:r>
            <a:endParaRPr lang="en-US" sz="1050" dirty="0"/>
          </a:p>
        </p:txBody>
      </p:sp>
      <p:sp>
        <p:nvSpPr>
          <p:cNvPr id="91" name="Shape 89"/>
          <p:cNvSpPr/>
          <p:nvPr/>
        </p:nvSpPr>
        <p:spPr>
          <a:xfrm>
            <a:off x="1097280" y="4681728"/>
            <a:ext cx="2834640" cy="402336"/>
          </a:xfrm>
          <a:prstGeom prst="rect">
            <a:avLst/>
          </a:prstGeom>
          <a:solidFill>
            <a:srgbClr val="F0F4F8"/>
          </a:solidFill>
          <a:ln w="12700">
            <a:solidFill>
              <a:srgbClr val="E2E8F0"/>
            </a:solidFill>
            <a:prstDash val="solid"/>
          </a:ln>
        </p:spPr>
      </p:sp>
      <p:sp>
        <p:nvSpPr>
          <p:cNvPr id="92" name="Text 90"/>
          <p:cNvSpPr/>
          <p:nvPr/>
        </p:nvSpPr>
        <p:spPr>
          <a:xfrm>
            <a:off x="1133856" y="4681728"/>
            <a:ext cx="277977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Boundary score (exactly 40)</a:t>
            </a:r>
            <a:endParaRPr lang="en-US" sz="1050" dirty="0"/>
          </a:p>
        </p:txBody>
      </p:sp>
      <p:sp>
        <p:nvSpPr>
          <p:cNvPr id="93" name="Shape 91"/>
          <p:cNvSpPr/>
          <p:nvPr/>
        </p:nvSpPr>
        <p:spPr>
          <a:xfrm>
            <a:off x="3931920" y="4681728"/>
            <a:ext cx="777240" cy="402336"/>
          </a:xfrm>
          <a:prstGeom prst="rect">
            <a:avLst/>
          </a:prstGeom>
          <a:solidFill>
            <a:srgbClr val="F0F4F8"/>
          </a:solidFill>
          <a:ln w="12700">
            <a:solidFill>
              <a:srgbClr val="E2E8F0"/>
            </a:solidFill>
            <a:prstDash val="solid"/>
          </a:ln>
        </p:spPr>
      </p:sp>
      <p:sp>
        <p:nvSpPr>
          <p:cNvPr id="94" name="Text 92"/>
          <p:cNvSpPr/>
          <p:nvPr/>
        </p:nvSpPr>
        <p:spPr>
          <a:xfrm>
            <a:off x="3968496" y="4681728"/>
            <a:ext cx="722376" cy="402336"/>
          </a:xfrm>
          <a:prstGeom prst="rect">
            <a:avLst/>
          </a:prstGeom>
          <a:noFill/>
          <a:ln/>
        </p:spPr>
        <p:txBody>
          <a:bodyPr wrap="square" rtlCol="0" anchor="ctr"/>
          <a:lstStyle/>
          <a:p>
            <a:pPr algn="ctr" indent="0" marL="0">
              <a:buNone/>
            </a:pPr>
            <a:r>
              <a:rPr lang="en-US" sz="1050" dirty="0">
                <a:solidFill>
                  <a:srgbClr val="475569"/>
                </a:solidFill>
                <a:latin typeface="Calibri" pitchFamily="34" charset="0"/>
                <a:ea typeface="Calibri" pitchFamily="34" charset="-122"/>
                <a:cs typeface="Calibri" pitchFamily="34" charset="-120"/>
              </a:rPr>
              <a:t>40</a:t>
            </a:r>
            <a:endParaRPr lang="en-US" sz="1050" dirty="0"/>
          </a:p>
        </p:txBody>
      </p:sp>
      <p:sp>
        <p:nvSpPr>
          <p:cNvPr id="95" name="Shape 93"/>
          <p:cNvSpPr/>
          <p:nvPr/>
        </p:nvSpPr>
        <p:spPr>
          <a:xfrm>
            <a:off x="4709160" y="4681728"/>
            <a:ext cx="1645920" cy="402336"/>
          </a:xfrm>
          <a:prstGeom prst="rect">
            <a:avLst/>
          </a:prstGeom>
          <a:solidFill>
            <a:srgbClr val="FFFBEB"/>
          </a:solidFill>
          <a:ln w="12700">
            <a:solidFill>
              <a:srgbClr val="E2E8F0"/>
            </a:solidFill>
            <a:prstDash val="solid"/>
          </a:ln>
        </p:spPr>
      </p:sp>
      <p:sp>
        <p:nvSpPr>
          <p:cNvPr id="96" name="Text 94"/>
          <p:cNvSpPr/>
          <p:nvPr/>
        </p:nvSpPr>
        <p:spPr>
          <a:xfrm>
            <a:off x="4745736" y="4681728"/>
            <a:ext cx="1591056" cy="402336"/>
          </a:xfrm>
          <a:prstGeom prst="rect">
            <a:avLst/>
          </a:prstGeom>
          <a:noFill/>
          <a:ln/>
        </p:spPr>
        <p:txBody>
          <a:bodyPr wrap="square" rtlCol="0" anchor="ctr"/>
          <a:lstStyle/>
          <a:p>
            <a:pPr algn="l" indent="0" marL="0">
              <a:buNone/>
            </a:pPr>
            <a:r>
              <a:rPr lang="en-US" sz="1050" dirty="0">
                <a:solidFill>
                  <a:srgbClr val="D97706"/>
                </a:solidFill>
                <a:latin typeface="Calibri" pitchFamily="34" charset="0"/>
                <a:ea typeface="Calibri" pitchFamily="34" charset="-122"/>
                <a:cs typeface="Calibri" pitchFamily="34" charset="-120"/>
              </a:rPr>
              <a:t>MEDIUM → STEP-UP</a:t>
            </a:r>
            <a:endParaRPr lang="en-US" sz="1050" dirty="0"/>
          </a:p>
        </p:txBody>
      </p:sp>
      <p:sp>
        <p:nvSpPr>
          <p:cNvPr id="97" name="Shape 95"/>
          <p:cNvSpPr/>
          <p:nvPr/>
        </p:nvSpPr>
        <p:spPr>
          <a:xfrm>
            <a:off x="6355080" y="4681728"/>
            <a:ext cx="1280160" cy="402336"/>
          </a:xfrm>
          <a:prstGeom prst="rect">
            <a:avLst/>
          </a:prstGeom>
          <a:solidFill>
            <a:srgbClr val="F0F4F8"/>
          </a:solidFill>
          <a:ln w="12700">
            <a:solidFill>
              <a:srgbClr val="E2E8F0"/>
            </a:solidFill>
            <a:prstDash val="solid"/>
          </a:ln>
        </p:spPr>
      </p:sp>
      <p:sp>
        <p:nvSpPr>
          <p:cNvPr id="98" name="Text 96"/>
          <p:cNvSpPr/>
          <p:nvPr/>
        </p:nvSpPr>
        <p:spPr>
          <a:xfrm>
            <a:off x="6391656" y="4681728"/>
            <a:ext cx="1225296" cy="402336"/>
          </a:xfrm>
          <a:prstGeom prst="rect">
            <a:avLst/>
          </a:prstGeom>
          <a:noFill/>
          <a:ln/>
        </p:spPr>
        <p:txBody>
          <a:bodyPr wrap="square" rtlCol="0" anchor="ctr"/>
          <a:lstStyle/>
          <a:p>
            <a:pPr algn="l" indent="0" marL="0">
              <a:buNone/>
            </a:pPr>
            <a:r>
              <a:rPr lang="en-US" sz="1050" dirty="0">
                <a:solidFill>
                  <a:srgbClr val="475569"/>
                </a:solidFill>
                <a:latin typeface="Calibri" pitchFamily="34" charset="0"/>
                <a:ea typeface="Calibri" pitchFamily="34" charset="-122"/>
                <a:cs typeface="Calibri" pitchFamily="34" charset="-120"/>
              </a:rPr>
              <a:t>Boundary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TEST DISTRIBUTION  &amp;  Risk Analysis</a:t>
            </a:r>
            <a:endParaRPr lang="en-US" sz="2000" dirty="0"/>
          </a:p>
        </p:txBody>
      </p:sp>
      <p:graphicFrame>
        <p:nvGraphicFramePr>
          <p:cNvPr id="4" name="Chart 0" descr=""/>
          <p:cNvGraphicFramePr/>
          <p:nvPr/>
        </p:nvGraphicFramePr>
        <p:xfrm>
          <a:off x="182880" y="868680"/>
          <a:ext cx="50292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394960" y="868680"/>
          <a:ext cx="3474720" cy="32004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182880" y="4206240"/>
            <a:ext cx="8778240" cy="749808"/>
          </a:xfrm>
          <a:prstGeom prst="rect">
            <a:avLst/>
          </a:prstGeom>
          <a:solidFill>
            <a:srgbClr val="1B3A5C"/>
          </a:solidFill>
          <a:ln/>
          <a:effectLst>
            <a:outerShdw sx="100000" sy="100000" kx="0" ky="0" algn="bl" rotWithShape="0" blurRad="101600" dist="38100" dir="8100000">
              <a:srgbClr val="000000">
                <a:alpha val="12000"/>
              </a:srgbClr>
            </a:outerShdw>
          </a:effectLst>
        </p:spPr>
      </p:sp>
      <p:sp>
        <p:nvSpPr>
          <p:cNvPr id="7" name="Text 3"/>
          <p:cNvSpPr/>
          <p:nvPr/>
        </p:nvSpPr>
        <p:spPr>
          <a:xfrm>
            <a:off x="320040" y="4206240"/>
            <a:ext cx="8503920" cy="749808"/>
          </a:xfrm>
          <a:prstGeom prst="rect">
            <a:avLst/>
          </a:prstGeom>
          <a:noFill/>
          <a:ln/>
        </p:spPr>
        <p:txBody>
          <a:bodyPr wrap="square"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Key Insight: </a:t>
            </a:r>
            <a:pPr indent="0" marL="0">
              <a:buNone/>
            </a:pPr>
            <a:r>
              <a:rPr lang="en-US" sz="1300" dirty="0">
                <a:solidFill>
                  <a:srgbClr val="FFFFFF"/>
                </a:solidFill>
                <a:latin typeface="Calibri" pitchFamily="34" charset="0"/>
                <a:ea typeface="Calibri" pitchFamily="34" charset="-122"/>
                <a:cs typeface="Calibri" pitchFamily="34" charset="-120"/>
              </a:rPr>
              <a:t>41% of test cases result in MEDIUM (Step-Up) risk — demonstrating conservative design. The system prefers caution over false negatives. Any single dimension anomaly is enough to escalate verification.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RESULTS  &amp;  ANALYSIS</a:t>
            </a:r>
            <a:endParaRPr lang="en-US" sz="2000" dirty="0"/>
          </a:p>
        </p:txBody>
      </p:sp>
      <p:sp>
        <p:nvSpPr>
          <p:cNvPr id="4" name="Shape 2"/>
          <p:cNvSpPr/>
          <p:nvPr/>
        </p:nvSpPr>
        <p:spPr>
          <a:xfrm>
            <a:off x="182880" y="896112"/>
            <a:ext cx="4343400" cy="18470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182880" y="896112"/>
            <a:ext cx="4343400" cy="402336"/>
          </a:xfrm>
          <a:prstGeom prst="rect">
            <a:avLst/>
          </a:prstGeom>
          <a:solidFill>
            <a:srgbClr val="0B7A75"/>
          </a:solidFill>
          <a:ln/>
        </p:spPr>
      </p:sp>
      <p:sp>
        <p:nvSpPr>
          <p:cNvPr id="6" name="Text 4"/>
          <p:cNvSpPr/>
          <p:nvPr/>
        </p:nvSpPr>
        <p:spPr>
          <a:xfrm>
            <a:off x="274320" y="896112"/>
            <a:ext cx="416052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Accuracy &amp; Reliability</a:t>
            </a:r>
            <a:endParaRPr lang="en-US" sz="1300" dirty="0"/>
          </a:p>
        </p:txBody>
      </p:sp>
      <p:sp>
        <p:nvSpPr>
          <p:cNvPr id="7" name="Text 5"/>
          <p:cNvSpPr/>
          <p:nvPr/>
        </p:nvSpPr>
        <p:spPr>
          <a:xfrm>
            <a:off x="274320" y="1353312"/>
            <a:ext cx="4160520" cy="1335024"/>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All 39 test cases produce expected risk classifications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Softmax weighting correctly adapts when any scorer is unavailable</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Boundary cases (score = 39, 40, 41, 69, 70) all classified correctly</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No false negatives on high-risk attack patterns (TC_009, TC_032)</a:t>
            </a:r>
            <a:endParaRPr lang="en-US" sz="1050" dirty="0"/>
          </a:p>
        </p:txBody>
      </p:sp>
      <p:sp>
        <p:nvSpPr>
          <p:cNvPr id="8" name="Shape 6"/>
          <p:cNvSpPr/>
          <p:nvPr/>
        </p:nvSpPr>
        <p:spPr>
          <a:xfrm>
            <a:off x="4709160" y="896112"/>
            <a:ext cx="4343400" cy="18470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4709160" y="896112"/>
            <a:ext cx="4343400" cy="402336"/>
          </a:xfrm>
          <a:prstGeom prst="rect">
            <a:avLst/>
          </a:prstGeom>
          <a:solidFill>
            <a:srgbClr val="1B3A5C"/>
          </a:solidFill>
          <a:ln/>
        </p:spPr>
      </p:sp>
      <p:sp>
        <p:nvSpPr>
          <p:cNvPr id="10" name="Text 8"/>
          <p:cNvSpPr/>
          <p:nvPr/>
        </p:nvSpPr>
        <p:spPr>
          <a:xfrm>
            <a:off x="4800600" y="896112"/>
            <a:ext cx="416052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Explainability Advantage</a:t>
            </a:r>
            <a:endParaRPr lang="en-US" sz="1300" dirty="0"/>
          </a:p>
        </p:txBody>
      </p:sp>
      <p:sp>
        <p:nvSpPr>
          <p:cNvPr id="11" name="Text 9"/>
          <p:cNvSpPr/>
          <p:nvPr/>
        </p:nvSpPr>
        <p:spPr>
          <a:xfrm>
            <a:off x="4800600" y="1353312"/>
            <a:ext cx="4160520" cy="1335024"/>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Every RiskDecision includes: score + individual dimension scores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Reason codes map to specific anomalies detected</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Audit trail supports GDPR compliance and security forensics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Users understand WHY they were blocked — reduces support tickets</a:t>
            </a:r>
            <a:endParaRPr lang="en-US" sz="1050" dirty="0"/>
          </a:p>
        </p:txBody>
      </p:sp>
      <p:sp>
        <p:nvSpPr>
          <p:cNvPr id="12" name="Shape 10"/>
          <p:cNvSpPr/>
          <p:nvPr/>
        </p:nvSpPr>
        <p:spPr>
          <a:xfrm>
            <a:off x="182880" y="2834640"/>
            <a:ext cx="4343400" cy="18470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182880" y="2834640"/>
            <a:ext cx="4343400" cy="402336"/>
          </a:xfrm>
          <a:prstGeom prst="rect">
            <a:avLst/>
          </a:prstGeom>
          <a:solidFill>
            <a:srgbClr val="0B7A75"/>
          </a:solidFill>
          <a:ln/>
        </p:spPr>
      </p:sp>
      <p:sp>
        <p:nvSpPr>
          <p:cNvPr id="14" name="Text 12"/>
          <p:cNvSpPr/>
          <p:nvPr/>
        </p:nvSpPr>
        <p:spPr>
          <a:xfrm>
            <a:off x="274320" y="2834640"/>
            <a:ext cx="416052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Real-World Applicability</a:t>
            </a:r>
            <a:endParaRPr lang="en-US" sz="1300" dirty="0"/>
          </a:p>
        </p:txBody>
      </p:sp>
      <p:sp>
        <p:nvSpPr>
          <p:cNvPr id="15" name="Text 13"/>
          <p:cNvSpPr/>
          <p:nvPr/>
        </p:nvSpPr>
        <p:spPr>
          <a:xfrm>
            <a:off x="274320" y="3291840"/>
            <a:ext cx="4160520" cy="1335024"/>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Banking / Fintech: Detect account takeover without OTP friction for normal users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Healthcare: Protect sensitive records from credential stuffing attacks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E-Commerce: Silent fraud prevention during checkout flow</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Enterprise SSO: Continuous authentication without password re-entry</a:t>
            </a:r>
            <a:endParaRPr lang="en-US" sz="1050" dirty="0"/>
          </a:p>
        </p:txBody>
      </p:sp>
      <p:sp>
        <p:nvSpPr>
          <p:cNvPr id="16" name="Shape 14"/>
          <p:cNvSpPr/>
          <p:nvPr/>
        </p:nvSpPr>
        <p:spPr>
          <a:xfrm>
            <a:off x="4709160" y="2834640"/>
            <a:ext cx="4343400" cy="184708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4709160" y="2834640"/>
            <a:ext cx="4343400" cy="402336"/>
          </a:xfrm>
          <a:prstGeom prst="rect">
            <a:avLst/>
          </a:prstGeom>
          <a:solidFill>
            <a:srgbClr val="1B3A5C"/>
          </a:solidFill>
          <a:ln/>
        </p:spPr>
      </p:sp>
      <p:sp>
        <p:nvSpPr>
          <p:cNvPr id="18" name="Text 16"/>
          <p:cNvSpPr/>
          <p:nvPr/>
        </p:nvSpPr>
        <p:spPr>
          <a:xfrm>
            <a:off x="4800600" y="2834640"/>
            <a:ext cx="416052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Performance</a:t>
            </a:r>
            <a:endParaRPr lang="en-US" sz="1300" dirty="0"/>
          </a:p>
        </p:txBody>
      </p:sp>
      <p:sp>
        <p:nvSpPr>
          <p:cNvPr id="19" name="Text 17"/>
          <p:cNvSpPr/>
          <p:nvPr/>
        </p:nvSpPr>
        <p:spPr>
          <a:xfrm>
            <a:off x="4800600" y="3291840"/>
            <a:ext cx="4160520" cy="1335024"/>
          </a:xfrm>
          <a:prstGeom prst="rect">
            <a:avLst/>
          </a:prstGeom>
          <a:noFill/>
          <a:ln/>
        </p:spPr>
        <p:txBody>
          <a:bodyPr wrap="square" rtlCol="0" anchor="t"/>
          <a:lstStyle/>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Pure Java — zero external dependencies, no database required</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All scoring is O(n) — linear in number of login history records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Softmax computation is O(k) where k = number of active scorers</a:t>
            </a:r>
            <a:endParaRPr lang="en-US" sz="1050" dirty="0"/>
          </a:p>
          <a:p>
            <a:pPr marL="342900" indent="-342900">
              <a:buSzPct val="100000"/>
              <a:buChar char="•"/>
            </a:pPr>
            <a:r>
              <a:rPr lang="en-US" sz="1050" dirty="0">
                <a:solidFill>
                  <a:srgbClr val="475569"/>
                </a:solidFill>
                <a:latin typeface="Calibri" pitchFamily="34" charset="0"/>
                <a:ea typeface="Calibri" pitchFamily="34" charset="-122"/>
                <a:cs typeface="Calibri" pitchFamily="34" charset="-120"/>
              </a:rPr>
              <a:t>Suitable for real-time evaluation with sub-millisecond latency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FUTURE SCOPE  &amp;  ENHANCEMENTS</a:t>
            </a:r>
            <a:endParaRPr lang="en-US" sz="2000" dirty="0"/>
          </a:p>
        </p:txBody>
      </p:sp>
      <p:sp>
        <p:nvSpPr>
          <p:cNvPr id="4" name="Shape 2"/>
          <p:cNvSpPr/>
          <p:nvPr/>
        </p:nvSpPr>
        <p:spPr>
          <a:xfrm>
            <a:off x="182880" y="896112"/>
            <a:ext cx="2834640" cy="1901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182880" y="896112"/>
            <a:ext cx="2834640" cy="384048"/>
          </a:xfrm>
          <a:prstGeom prst="rect">
            <a:avLst/>
          </a:prstGeom>
          <a:solidFill>
            <a:srgbClr val="0B7A75"/>
          </a:solidFill>
          <a:ln/>
        </p:spPr>
      </p:sp>
      <p:sp>
        <p:nvSpPr>
          <p:cNvPr id="6" name="Text 4"/>
          <p:cNvSpPr/>
          <p:nvPr/>
        </p:nvSpPr>
        <p:spPr>
          <a:xfrm>
            <a:off x="274320" y="896112"/>
            <a:ext cx="26974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01  Machine Learning Integration</a:t>
            </a:r>
            <a:endParaRPr lang="en-US" sz="1150" dirty="0"/>
          </a:p>
        </p:txBody>
      </p:sp>
      <p:sp>
        <p:nvSpPr>
          <p:cNvPr id="7" name="Text 5"/>
          <p:cNvSpPr/>
          <p:nvPr/>
        </p:nvSpPr>
        <p:spPr>
          <a:xfrm>
            <a:off x="274320" y="1335024"/>
            <a:ext cx="2670048" cy="1389888"/>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Replace Softmax static reliability scores with a trained ML model. Use Random Forest or LSTM on historical login sequences to auto-learn anomaly patterns per user.</a:t>
            </a:r>
            <a:endParaRPr lang="en-US" sz="1000" dirty="0"/>
          </a:p>
        </p:txBody>
      </p:sp>
      <p:sp>
        <p:nvSpPr>
          <p:cNvPr id="8" name="Shape 6"/>
          <p:cNvSpPr/>
          <p:nvPr/>
        </p:nvSpPr>
        <p:spPr>
          <a:xfrm>
            <a:off x="3172968" y="896112"/>
            <a:ext cx="2834640" cy="1901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3172968" y="896112"/>
            <a:ext cx="2834640" cy="384048"/>
          </a:xfrm>
          <a:prstGeom prst="rect">
            <a:avLst/>
          </a:prstGeom>
          <a:solidFill>
            <a:srgbClr val="1B3A5C"/>
          </a:solidFill>
          <a:ln/>
        </p:spPr>
      </p:sp>
      <p:sp>
        <p:nvSpPr>
          <p:cNvPr id="10" name="Text 8"/>
          <p:cNvSpPr/>
          <p:nvPr/>
        </p:nvSpPr>
        <p:spPr>
          <a:xfrm>
            <a:off x="3264408" y="896112"/>
            <a:ext cx="26974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02  Real-Time Streaming (Apache Kafka)</a:t>
            </a:r>
            <a:endParaRPr lang="en-US" sz="1150" dirty="0"/>
          </a:p>
        </p:txBody>
      </p:sp>
      <p:sp>
        <p:nvSpPr>
          <p:cNvPr id="11" name="Text 9"/>
          <p:cNvSpPr/>
          <p:nvPr/>
        </p:nvSpPr>
        <p:spPr>
          <a:xfrm>
            <a:off x="3264408" y="1335024"/>
            <a:ext cx="2670048" cy="1389888"/>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Publish LoginEvents to Kafka topics. Scoring engine becomes a Kafka Streams consumer — evaluate thousands of logins/sec with horizontal scaling.</a:t>
            </a:r>
            <a:endParaRPr lang="en-US" sz="1000" dirty="0"/>
          </a:p>
        </p:txBody>
      </p:sp>
      <p:sp>
        <p:nvSpPr>
          <p:cNvPr id="12" name="Shape 10"/>
          <p:cNvSpPr/>
          <p:nvPr/>
        </p:nvSpPr>
        <p:spPr>
          <a:xfrm>
            <a:off x="6163056" y="896112"/>
            <a:ext cx="2834640" cy="1901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6163056" y="896112"/>
            <a:ext cx="2834640" cy="384048"/>
          </a:xfrm>
          <a:prstGeom prst="rect">
            <a:avLst/>
          </a:prstGeom>
          <a:solidFill>
            <a:srgbClr val="0B7A75"/>
          </a:solidFill>
          <a:ln/>
        </p:spPr>
      </p:sp>
      <p:sp>
        <p:nvSpPr>
          <p:cNvPr id="14" name="Text 12"/>
          <p:cNvSpPr/>
          <p:nvPr/>
        </p:nvSpPr>
        <p:spPr>
          <a:xfrm>
            <a:off x="6254496" y="896112"/>
            <a:ext cx="26974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03  REST API Microservice</a:t>
            </a:r>
            <a:endParaRPr lang="en-US" sz="1150" dirty="0"/>
          </a:p>
        </p:txBody>
      </p:sp>
      <p:sp>
        <p:nvSpPr>
          <p:cNvPr id="15" name="Text 13"/>
          <p:cNvSpPr/>
          <p:nvPr/>
        </p:nvSpPr>
        <p:spPr>
          <a:xfrm>
            <a:off x="6254496" y="1335024"/>
            <a:ext cx="2670048" cy="1389888"/>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Expose scoring engine as a Spring Boot REST API. Any application can call /evaluate-login → POST JSON → receive RiskDecision JSON. Plug-and-play security layer.</a:t>
            </a:r>
            <a:endParaRPr lang="en-US" sz="1000" dirty="0"/>
          </a:p>
        </p:txBody>
      </p:sp>
      <p:sp>
        <p:nvSpPr>
          <p:cNvPr id="16" name="Shape 14"/>
          <p:cNvSpPr/>
          <p:nvPr/>
        </p:nvSpPr>
        <p:spPr>
          <a:xfrm>
            <a:off x="182880" y="2889504"/>
            <a:ext cx="2834640" cy="1901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182880" y="2889504"/>
            <a:ext cx="2834640" cy="384048"/>
          </a:xfrm>
          <a:prstGeom prst="rect">
            <a:avLst/>
          </a:prstGeom>
          <a:solidFill>
            <a:srgbClr val="1B3A5C"/>
          </a:solidFill>
          <a:ln/>
        </p:spPr>
      </p:sp>
      <p:sp>
        <p:nvSpPr>
          <p:cNvPr id="18" name="Text 16"/>
          <p:cNvSpPr/>
          <p:nvPr/>
        </p:nvSpPr>
        <p:spPr>
          <a:xfrm>
            <a:off x="274320" y="2889504"/>
            <a:ext cx="26974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04  Behavioral Biometrics</a:t>
            </a:r>
            <a:endParaRPr lang="en-US" sz="1150" dirty="0"/>
          </a:p>
        </p:txBody>
      </p:sp>
      <p:sp>
        <p:nvSpPr>
          <p:cNvPr id="19" name="Text 17"/>
          <p:cNvSpPr/>
          <p:nvPr/>
        </p:nvSpPr>
        <p:spPr>
          <a:xfrm>
            <a:off x="274320" y="3328416"/>
            <a:ext cx="2670048" cy="1389888"/>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Add 6th dimension: keystroke dynamics, mouse movement patterns, typing rhythm. Creates a unique behavioral fingerprint that's impossible to steal.</a:t>
            </a:r>
            <a:endParaRPr lang="en-US" sz="1000" dirty="0"/>
          </a:p>
        </p:txBody>
      </p:sp>
      <p:sp>
        <p:nvSpPr>
          <p:cNvPr id="20" name="Shape 18"/>
          <p:cNvSpPr/>
          <p:nvPr/>
        </p:nvSpPr>
        <p:spPr>
          <a:xfrm>
            <a:off x="3172968" y="2889504"/>
            <a:ext cx="2834640" cy="1901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Shape 19"/>
          <p:cNvSpPr/>
          <p:nvPr/>
        </p:nvSpPr>
        <p:spPr>
          <a:xfrm>
            <a:off x="3172968" y="2889504"/>
            <a:ext cx="2834640" cy="384048"/>
          </a:xfrm>
          <a:prstGeom prst="rect">
            <a:avLst/>
          </a:prstGeom>
          <a:solidFill>
            <a:srgbClr val="0B7A75"/>
          </a:solidFill>
          <a:ln/>
        </p:spPr>
      </p:sp>
      <p:sp>
        <p:nvSpPr>
          <p:cNvPr id="22" name="Text 20"/>
          <p:cNvSpPr/>
          <p:nvPr/>
        </p:nvSpPr>
        <p:spPr>
          <a:xfrm>
            <a:off x="3264408" y="2889504"/>
            <a:ext cx="26974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05  Dynamic Threshold Tuning</a:t>
            </a:r>
            <a:endParaRPr lang="en-US" sz="1150" dirty="0"/>
          </a:p>
        </p:txBody>
      </p:sp>
      <p:sp>
        <p:nvSpPr>
          <p:cNvPr id="23" name="Text 21"/>
          <p:cNvSpPr/>
          <p:nvPr/>
        </p:nvSpPr>
        <p:spPr>
          <a:xfrm>
            <a:off x="3264408" y="3328416"/>
            <a:ext cx="2670048" cy="1389888"/>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Replace fixed 40/70 thresholds with organization-specific thresholds tuned from historical fraud data. Automatically adjust via A/B testing framework.</a:t>
            </a:r>
            <a:endParaRPr lang="en-US" sz="1000" dirty="0"/>
          </a:p>
        </p:txBody>
      </p:sp>
      <p:sp>
        <p:nvSpPr>
          <p:cNvPr id="24" name="Shape 22"/>
          <p:cNvSpPr/>
          <p:nvPr/>
        </p:nvSpPr>
        <p:spPr>
          <a:xfrm>
            <a:off x="6163056" y="2889504"/>
            <a:ext cx="2834640" cy="190195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5" name="Shape 23"/>
          <p:cNvSpPr/>
          <p:nvPr/>
        </p:nvSpPr>
        <p:spPr>
          <a:xfrm>
            <a:off x="6163056" y="2889504"/>
            <a:ext cx="2834640" cy="384048"/>
          </a:xfrm>
          <a:prstGeom prst="rect">
            <a:avLst/>
          </a:prstGeom>
          <a:solidFill>
            <a:srgbClr val="1B3A5C"/>
          </a:solidFill>
          <a:ln/>
        </p:spPr>
      </p:sp>
      <p:sp>
        <p:nvSpPr>
          <p:cNvPr id="26" name="Text 24"/>
          <p:cNvSpPr/>
          <p:nvPr/>
        </p:nvSpPr>
        <p:spPr>
          <a:xfrm>
            <a:off x="6254496" y="2889504"/>
            <a:ext cx="269748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06  Federated Learning</a:t>
            </a:r>
            <a:endParaRPr lang="en-US" sz="1150" dirty="0"/>
          </a:p>
        </p:txBody>
      </p:sp>
      <p:sp>
        <p:nvSpPr>
          <p:cNvPr id="27" name="Text 25"/>
          <p:cNvSpPr/>
          <p:nvPr/>
        </p:nvSpPr>
        <p:spPr>
          <a:xfrm>
            <a:off x="6254496" y="3328416"/>
            <a:ext cx="2670048" cy="1389888"/>
          </a:xfrm>
          <a:prstGeom prst="rect">
            <a:avLst/>
          </a:prstGeom>
          <a:noFill/>
          <a:ln/>
        </p:spPr>
        <p:txBody>
          <a:bodyPr wrap="square" rtlCol="0" anchor="t"/>
          <a:lstStyle/>
          <a:p>
            <a:pPr indent="0" marL="0">
              <a:buNone/>
            </a:pPr>
            <a:r>
              <a:rPr lang="en-US" sz="1000" dirty="0">
                <a:solidFill>
                  <a:srgbClr val="475569"/>
                </a:solidFill>
                <a:latin typeface="Calibri" pitchFamily="34" charset="0"/>
                <a:ea typeface="Calibri" pitchFamily="34" charset="-122"/>
                <a:cs typeface="Calibri" pitchFamily="34" charset="-120"/>
              </a:rPr>
              <a:t>Train anomaly detection models across banks without sharing raw user data. Privacy-preserving collaborative intelligence using federated ML protocols.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sp>
      <p:sp>
        <p:nvSpPr>
          <p:cNvPr id="3" name="Text 1"/>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dirty="0">
                <a:solidFill>
                  <a:srgbClr val="5EEAD4"/>
                </a:solidFill>
                <a:latin typeface="Calibri" pitchFamily="34" charset="0"/>
                <a:ea typeface="Calibri" pitchFamily="34" charset="-122"/>
                <a:cs typeface="Calibri" pitchFamily="34" charset="-120"/>
              </a:rPr>
              <a:t>TEAM CONTRIBUTION</a:t>
            </a:r>
            <a:endParaRPr lang="en-US" sz="2000" dirty="0"/>
          </a:p>
        </p:txBody>
      </p:sp>
      <p:sp>
        <p:nvSpPr>
          <p:cNvPr id="4" name="Shape 2"/>
          <p:cNvSpPr/>
          <p:nvPr/>
        </p:nvSpPr>
        <p:spPr>
          <a:xfrm>
            <a:off x="1719072" y="658368"/>
            <a:ext cx="658368" cy="658368"/>
          </a:xfrm>
          <a:prstGeom prst="ellipse">
            <a:avLst/>
          </a:prstGeom>
          <a:solidFill>
            <a:srgbClr val="0B7A75"/>
          </a:solidFill>
          <a:ln w="12700">
            <a:solidFill>
              <a:srgbClr val="F8FAFC"/>
            </a:solidFill>
            <a:prstDash val="solid"/>
          </a:ln>
        </p:spPr>
      </p:sp>
      <p:sp>
        <p:nvSpPr>
          <p:cNvPr id="5" name="Text 3"/>
          <p:cNvSpPr/>
          <p:nvPr/>
        </p:nvSpPr>
        <p:spPr>
          <a:xfrm>
            <a:off x="1719072" y="6583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Shape 4"/>
          <p:cNvSpPr/>
          <p:nvPr/>
        </p:nvSpPr>
        <p:spPr>
          <a:xfrm>
            <a:off x="182880" y="896112"/>
            <a:ext cx="4160520" cy="32461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182880" y="896112"/>
            <a:ext cx="4160520" cy="457200"/>
          </a:xfrm>
          <a:prstGeom prst="rect">
            <a:avLst/>
          </a:prstGeom>
          <a:solidFill>
            <a:srgbClr val="0B7A75"/>
          </a:solidFill>
          <a:ln/>
        </p:spPr>
      </p:sp>
      <p:sp>
        <p:nvSpPr>
          <p:cNvPr id="8" name="Text 6"/>
          <p:cNvSpPr/>
          <p:nvPr/>
        </p:nvSpPr>
        <p:spPr>
          <a:xfrm>
            <a:off x="228600" y="896112"/>
            <a:ext cx="406908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Arshit  ·  S25CSEU1033</a:t>
            </a:r>
            <a:endParaRPr lang="en-US" sz="1300" dirty="0"/>
          </a:p>
        </p:txBody>
      </p:sp>
      <p:sp>
        <p:nvSpPr>
          <p:cNvPr id="9" name="Text 7"/>
          <p:cNvSpPr/>
          <p:nvPr/>
        </p:nvSpPr>
        <p:spPr>
          <a:xfrm>
            <a:off x="274320" y="1408176"/>
            <a:ext cx="3977640" cy="292608"/>
          </a:xfrm>
          <a:prstGeom prst="rect">
            <a:avLst/>
          </a:prstGeom>
          <a:noFill/>
          <a:ln/>
        </p:spPr>
        <p:txBody>
          <a:bodyPr wrap="square" rtlCol="0" anchor="ctr"/>
          <a:lstStyle/>
          <a:p>
            <a:pPr indent="0" marL="0">
              <a:buNone/>
            </a:pPr>
            <a:r>
              <a:rPr lang="en-US" sz="1200" b="1" dirty="0">
                <a:solidFill>
                  <a:srgbClr val="0B7A75"/>
                </a:solidFill>
                <a:latin typeface="Calibri" pitchFamily="34" charset="0"/>
                <a:ea typeface="Calibri" pitchFamily="34" charset="-122"/>
                <a:cs typeface="Calibri" pitchFamily="34" charset="-120"/>
              </a:rPr>
              <a:t>Scoring System &amp; Algorithms</a:t>
            </a:r>
            <a:endParaRPr lang="en-US" sz="1200" dirty="0"/>
          </a:p>
        </p:txBody>
      </p:sp>
      <p:sp>
        <p:nvSpPr>
          <p:cNvPr id="10" name="Text 8"/>
          <p:cNvSpPr/>
          <p:nvPr/>
        </p:nvSpPr>
        <p:spPr>
          <a:xfrm>
            <a:off x="274320" y="1737360"/>
            <a:ext cx="3977640" cy="2286000"/>
          </a:xfrm>
          <a:prstGeom prst="rect">
            <a:avLst/>
          </a:prstGeom>
          <a:noFill/>
          <a:ln/>
        </p:spPr>
        <p:txBody>
          <a:bodyPr wrap="square"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Implemented all 5 scoring modules — Time, Location, Device, Behavior, Failed Attempts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Designed all mathematical models: Gaussian, Exponential Decay, Coefficient of Variation, Probability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Built the UI layer using HTML &amp; JavaScript for result visualization</a:t>
            </a:r>
            <a:endParaRPr lang="en-US" sz="1100" dirty="0"/>
          </a:p>
        </p:txBody>
      </p:sp>
      <p:sp>
        <p:nvSpPr>
          <p:cNvPr id="11" name="Shape 9"/>
          <p:cNvSpPr/>
          <p:nvPr/>
        </p:nvSpPr>
        <p:spPr>
          <a:xfrm>
            <a:off x="6153912" y="658368"/>
            <a:ext cx="658368" cy="658368"/>
          </a:xfrm>
          <a:prstGeom prst="ellipse">
            <a:avLst/>
          </a:prstGeom>
          <a:solidFill>
            <a:srgbClr val="1B3A5C"/>
          </a:solidFill>
          <a:ln w="12700">
            <a:solidFill>
              <a:srgbClr val="F8FAFC"/>
            </a:solidFill>
            <a:prstDash val="solid"/>
          </a:ln>
        </p:spPr>
      </p:sp>
      <p:sp>
        <p:nvSpPr>
          <p:cNvPr id="12" name="Text 10"/>
          <p:cNvSpPr/>
          <p:nvPr/>
        </p:nvSpPr>
        <p:spPr>
          <a:xfrm>
            <a:off x="6153912" y="65836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13" name="Shape 11"/>
          <p:cNvSpPr/>
          <p:nvPr/>
        </p:nvSpPr>
        <p:spPr>
          <a:xfrm>
            <a:off x="4617720" y="896112"/>
            <a:ext cx="4160520" cy="32461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617720" y="896112"/>
            <a:ext cx="4160520" cy="457200"/>
          </a:xfrm>
          <a:prstGeom prst="rect">
            <a:avLst/>
          </a:prstGeom>
          <a:solidFill>
            <a:srgbClr val="1B3A5C"/>
          </a:solidFill>
          <a:ln/>
        </p:spPr>
      </p:sp>
      <p:sp>
        <p:nvSpPr>
          <p:cNvPr id="15" name="Text 13"/>
          <p:cNvSpPr/>
          <p:nvPr/>
        </p:nvSpPr>
        <p:spPr>
          <a:xfrm>
            <a:off x="4663440" y="896112"/>
            <a:ext cx="406908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Sparsh  ·  S25CSEU1035</a:t>
            </a:r>
            <a:endParaRPr lang="en-US" sz="1300" dirty="0"/>
          </a:p>
        </p:txBody>
      </p:sp>
      <p:sp>
        <p:nvSpPr>
          <p:cNvPr id="16" name="Text 14"/>
          <p:cNvSpPr/>
          <p:nvPr/>
        </p:nvSpPr>
        <p:spPr>
          <a:xfrm>
            <a:off x="4709160" y="1408176"/>
            <a:ext cx="3977640" cy="292608"/>
          </a:xfrm>
          <a:prstGeom prst="rect">
            <a:avLst/>
          </a:prstGeom>
          <a:noFill/>
          <a:ln/>
        </p:spPr>
        <p:txBody>
          <a:bodyPr wrap="square"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Engine &amp; Decision System</a:t>
            </a:r>
            <a:endParaRPr lang="en-US" sz="1200" dirty="0"/>
          </a:p>
        </p:txBody>
      </p:sp>
      <p:sp>
        <p:nvSpPr>
          <p:cNvPr id="17" name="Text 15"/>
          <p:cNvSpPr/>
          <p:nvPr/>
        </p:nvSpPr>
        <p:spPr>
          <a:xfrm>
            <a:off x="4709160" y="1737360"/>
            <a:ext cx="3977640" cy="2286000"/>
          </a:xfrm>
          <a:prstGeom prst="rect">
            <a:avLst/>
          </a:prstGeom>
          <a:noFill/>
          <a:ln/>
        </p:spPr>
        <p:txBody>
          <a:bodyPr wrap="square"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Developed Softmax-based ConfidenceScoringEngine with adaptive dynamic weighting</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Implemented Risk Classification logic with configurable thresholds (LOW / MEDIUM / HIGH)</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Built the Action Engine to map risk levels to ALLOW / STEP-UP / BLOCK decisions</a:t>
            </a:r>
            <a:endParaRPr lang="en-US" sz="1100" dirty="0"/>
          </a:p>
        </p:txBody>
      </p:sp>
      <p:sp>
        <p:nvSpPr>
          <p:cNvPr id="18" name="Shape 16"/>
          <p:cNvSpPr/>
          <p:nvPr/>
        </p:nvSpPr>
        <p:spPr>
          <a:xfrm>
            <a:off x="182880" y="4251960"/>
            <a:ext cx="8778240" cy="713232"/>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19" name="Shape 17"/>
          <p:cNvSpPr/>
          <p:nvPr/>
        </p:nvSpPr>
        <p:spPr>
          <a:xfrm>
            <a:off x="182880" y="4251960"/>
            <a:ext cx="164592" cy="713232"/>
          </a:xfrm>
          <a:prstGeom prst="rect">
            <a:avLst/>
          </a:prstGeom>
          <a:solidFill>
            <a:srgbClr val="5EEAD4"/>
          </a:solidFill>
          <a:ln/>
        </p:spPr>
      </p:sp>
      <p:sp>
        <p:nvSpPr>
          <p:cNvPr id="20" name="Text 18"/>
          <p:cNvSpPr/>
          <p:nvPr/>
        </p:nvSpPr>
        <p:spPr>
          <a:xfrm>
            <a:off x="420624" y="4251960"/>
            <a:ext cx="2103120" cy="713232"/>
          </a:xfrm>
          <a:prstGeom prst="rect">
            <a:avLst/>
          </a:prstGeom>
          <a:noFill/>
          <a:ln/>
        </p:spPr>
        <p:txBody>
          <a:bodyPr wrap="square"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Joint Contribution:</a:t>
            </a:r>
            <a:endParaRPr lang="en-US" sz="1200" dirty="0"/>
          </a:p>
        </p:txBody>
      </p:sp>
      <p:sp>
        <p:nvSpPr>
          <p:cNvPr id="21" name="Text 19"/>
          <p:cNvSpPr/>
          <p:nvPr/>
        </p:nvSpPr>
        <p:spPr>
          <a:xfrm>
            <a:off x="2606040" y="4251960"/>
            <a:ext cx="626364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System architecture design (3-layer model)   ·   39 test case scenarios   ·   Report &amp; presentation preparation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914400" y="-457200"/>
            <a:ext cx="4114800" cy="4114800"/>
          </a:xfrm>
          <a:prstGeom prst="ellipse">
            <a:avLst/>
          </a:prstGeom>
          <a:solidFill>
            <a:srgbClr val="1B3A5C">
              <a:alpha val="30000"/>
            </a:srgbClr>
          </a:solidFill>
          <a:ln/>
        </p:spPr>
      </p:sp>
      <p:sp>
        <p:nvSpPr>
          <p:cNvPr id="3" name="Shape 1"/>
          <p:cNvSpPr/>
          <p:nvPr/>
        </p:nvSpPr>
        <p:spPr>
          <a:xfrm>
            <a:off x="6858000" y="2743200"/>
            <a:ext cx="3200400" cy="3200400"/>
          </a:xfrm>
          <a:prstGeom prst="ellipse">
            <a:avLst/>
          </a:prstGeom>
          <a:solidFill>
            <a:srgbClr val="0B7A75">
              <a:alpha val="25000"/>
            </a:srgbClr>
          </a:solidFill>
          <a:ln/>
        </p:spPr>
      </p:sp>
      <p:sp>
        <p:nvSpPr>
          <p:cNvPr id="4" name="Shape 2"/>
          <p:cNvSpPr/>
          <p:nvPr/>
        </p:nvSpPr>
        <p:spPr>
          <a:xfrm>
            <a:off x="0" y="0"/>
            <a:ext cx="9144000" cy="749808"/>
          </a:xfrm>
          <a:prstGeom prst="rect">
            <a:avLst/>
          </a:prstGeom>
          <a:solidFill>
            <a:srgbClr val="0B7A75"/>
          </a:solidFill>
          <a:ln/>
        </p:spPr>
      </p:sp>
      <p:sp>
        <p:nvSpPr>
          <p:cNvPr id="5" name="Text 3"/>
          <p:cNvSpPr/>
          <p:nvPr/>
        </p:nvSpPr>
        <p:spPr>
          <a:xfrm>
            <a:off x="274320" y="73152"/>
            <a:ext cx="8595360" cy="603504"/>
          </a:xfrm>
          <a:prstGeom prst="rect">
            <a:avLst/>
          </a:prstGeom>
          <a:noFill/>
          <a:ln/>
        </p:spPr>
        <p:txBody>
          <a:bodyPr wrap="square" lIns="0" tIns="0" rIns="0" bIns="0" rtlCol="0" anchor="ctr"/>
          <a:lstStyle/>
          <a:p>
            <a:pPr indent="0" marL="0">
              <a:buNone/>
            </a:pPr>
            <a:r>
              <a:rPr lang="en-US" sz="2000" b="1" spc="400" kern="0" dirty="0">
                <a:solidFill>
                  <a:srgbClr val="FFFFFF"/>
                </a:solidFill>
                <a:latin typeface="Calibri" pitchFamily="34" charset="0"/>
                <a:ea typeface="Calibri" pitchFamily="34" charset="-122"/>
                <a:cs typeface="Calibri" pitchFamily="34" charset="-120"/>
              </a:rPr>
              <a:t>CONCLUSION</a:t>
            </a:r>
            <a:endParaRPr lang="en-US" sz="2000" dirty="0"/>
          </a:p>
        </p:txBody>
      </p:sp>
      <p:sp>
        <p:nvSpPr>
          <p:cNvPr id="6" name="Shape 4"/>
          <p:cNvSpPr/>
          <p:nvPr/>
        </p:nvSpPr>
        <p:spPr>
          <a:xfrm>
            <a:off x="274320" y="932688"/>
            <a:ext cx="8595360" cy="566928"/>
          </a:xfrm>
          <a:prstGeom prst="rect">
            <a:avLst/>
          </a:prstGeom>
          <a:solidFill>
            <a:srgbClr val="1B3A5C">
              <a:alpha val="80000"/>
            </a:srgbClr>
          </a:solidFill>
          <a:ln/>
        </p:spPr>
      </p:sp>
      <p:sp>
        <p:nvSpPr>
          <p:cNvPr id="7" name="Text 5"/>
          <p:cNvSpPr/>
          <p:nvPr/>
        </p:nvSpPr>
        <p:spPr>
          <a:xfrm>
            <a:off x="320040" y="932688"/>
            <a:ext cx="502920" cy="566928"/>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868680" y="932688"/>
            <a:ext cx="79095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Pure Java behavioral analytics engine — no external dependencies</a:t>
            </a:r>
            <a:endParaRPr lang="en-US" sz="1300" dirty="0"/>
          </a:p>
        </p:txBody>
      </p:sp>
      <p:sp>
        <p:nvSpPr>
          <p:cNvPr id="9" name="Shape 7"/>
          <p:cNvSpPr/>
          <p:nvPr/>
        </p:nvSpPr>
        <p:spPr>
          <a:xfrm>
            <a:off x="274320" y="1581912"/>
            <a:ext cx="8595360" cy="566928"/>
          </a:xfrm>
          <a:prstGeom prst="rect">
            <a:avLst/>
          </a:prstGeom>
          <a:solidFill>
            <a:srgbClr val="1B3A5C">
              <a:alpha val="80000"/>
            </a:srgbClr>
          </a:solidFill>
          <a:ln/>
        </p:spPr>
      </p:sp>
      <p:sp>
        <p:nvSpPr>
          <p:cNvPr id="10" name="Text 8"/>
          <p:cNvSpPr/>
          <p:nvPr/>
        </p:nvSpPr>
        <p:spPr>
          <a:xfrm>
            <a:off x="320040" y="1581912"/>
            <a:ext cx="502920" cy="566928"/>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868680" y="1581912"/>
            <a:ext cx="79095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Softmax Dynamic Weighting — adaptive, self-calibrating, more accurate than static weights</a:t>
            </a:r>
            <a:endParaRPr lang="en-US" sz="1300" dirty="0"/>
          </a:p>
        </p:txBody>
      </p:sp>
      <p:sp>
        <p:nvSpPr>
          <p:cNvPr id="12" name="Shape 10"/>
          <p:cNvSpPr/>
          <p:nvPr/>
        </p:nvSpPr>
        <p:spPr>
          <a:xfrm>
            <a:off x="274320" y="2231136"/>
            <a:ext cx="8595360" cy="566928"/>
          </a:xfrm>
          <a:prstGeom prst="rect">
            <a:avLst/>
          </a:prstGeom>
          <a:solidFill>
            <a:srgbClr val="1B3A5C">
              <a:alpha val="80000"/>
            </a:srgbClr>
          </a:solidFill>
          <a:ln/>
        </p:spPr>
      </p:sp>
      <p:sp>
        <p:nvSpPr>
          <p:cNvPr id="13" name="Text 11"/>
          <p:cNvSpPr/>
          <p:nvPr/>
        </p:nvSpPr>
        <p:spPr>
          <a:xfrm>
            <a:off x="320040" y="2231136"/>
            <a:ext cx="502920" cy="566928"/>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868680" y="2231136"/>
            <a:ext cx="79095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independent scoring dimensions — time, location, device, behavior, failures</a:t>
            </a:r>
            <a:endParaRPr lang="en-US" sz="1300" dirty="0"/>
          </a:p>
        </p:txBody>
      </p:sp>
      <p:sp>
        <p:nvSpPr>
          <p:cNvPr id="15" name="Shape 13"/>
          <p:cNvSpPr/>
          <p:nvPr/>
        </p:nvSpPr>
        <p:spPr>
          <a:xfrm>
            <a:off x="274320" y="2880360"/>
            <a:ext cx="8595360" cy="566928"/>
          </a:xfrm>
          <a:prstGeom prst="rect">
            <a:avLst/>
          </a:prstGeom>
          <a:solidFill>
            <a:srgbClr val="1B3A5C">
              <a:alpha val="80000"/>
            </a:srgbClr>
          </a:solidFill>
          <a:ln/>
        </p:spPr>
      </p:sp>
      <p:sp>
        <p:nvSpPr>
          <p:cNvPr id="16" name="Text 14"/>
          <p:cNvSpPr/>
          <p:nvPr/>
        </p:nvSpPr>
        <p:spPr>
          <a:xfrm>
            <a:off x="320040" y="2880360"/>
            <a:ext cx="502920" cy="566928"/>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68680" y="2880360"/>
            <a:ext cx="79095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Fully explainable decisions — every BLOCK/STEP-UP includes reasons and contributing factors</a:t>
            </a:r>
            <a:endParaRPr lang="en-US" sz="1300" dirty="0"/>
          </a:p>
        </p:txBody>
      </p:sp>
      <p:sp>
        <p:nvSpPr>
          <p:cNvPr id="18" name="Shape 16"/>
          <p:cNvSpPr/>
          <p:nvPr/>
        </p:nvSpPr>
        <p:spPr>
          <a:xfrm>
            <a:off x="274320" y="3529584"/>
            <a:ext cx="8595360" cy="566928"/>
          </a:xfrm>
          <a:prstGeom prst="rect">
            <a:avLst/>
          </a:prstGeom>
          <a:solidFill>
            <a:srgbClr val="1B3A5C">
              <a:alpha val="80000"/>
            </a:srgbClr>
          </a:solidFill>
          <a:ln/>
        </p:spPr>
      </p:sp>
      <p:sp>
        <p:nvSpPr>
          <p:cNvPr id="19" name="Text 17"/>
          <p:cNvSpPr/>
          <p:nvPr/>
        </p:nvSpPr>
        <p:spPr>
          <a:xfrm>
            <a:off x="320040" y="3529584"/>
            <a:ext cx="502920" cy="566928"/>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868680" y="3529584"/>
            <a:ext cx="79095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39 test cases — 6 categories, 100% classification accuracy including edge &amp; security cases</a:t>
            </a:r>
            <a:endParaRPr lang="en-US" sz="1300" dirty="0"/>
          </a:p>
        </p:txBody>
      </p:sp>
      <p:sp>
        <p:nvSpPr>
          <p:cNvPr id="21" name="Shape 19"/>
          <p:cNvSpPr/>
          <p:nvPr/>
        </p:nvSpPr>
        <p:spPr>
          <a:xfrm>
            <a:off x="274320" y="4178808"/>
            <a:ext cx="8595360" cy="566928"/>
          </a:xfrm>
          <a:prstGeom prst="rect">
            <a:avLst/>
          </a:prstGeom>
          <a:solidFill>
            <a:srgbClr val="1B3A5C">
              <a:alpha val="80000"/>
            </a:srgbClr>
          </a:solidFill>
          <a:ln/>
        </p:spPr>
      </p:sp>
      <p:sp>
        <p:nvSpPr>
          <p:cNvPr id="22" name="Text 20"/>
          <p:cNvSpPr/>
          <p:nvPr/>
        </p:nvSpPr>
        <p:spPr>
          <a:xfrm>
            <a:off x="320040" y="4178808"/>
            <a:ext cx="502920" cy="566928"/>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868680" y="4178808"/>
            <a:ext cx="79095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Production-ready design — Strategy Pattern, Builder Pattern, SOLID principles throughout</a:t>
            </a:r>
            <a:endParaRPr lang="en-US" sz="1300" dirty="0"/>
          </a:p>
        </p:txBody>
      </p:sp>
      <p:sp>
        <p:nvSpPr>
          <p:cNvPr id="24" name="Text 22"/>
          <p:cNvSpPr/>
          <p:nvPr/>
        </p:nvSpPr>
        <p:spPr>
          <a:xfrm>
            <a:off x="274320" y="4754880"/>
            <a:ext cx="8595360" cy="320040"/>
          </a:xfrm>
          <a:prstGeom prst="rect">
            <a:avLst/>
          </a:prstGeom>
          <a:noFill/>
          <a:ln/>
        </p:spPr>
        <p:txBody>
          <a:bodyPr wrap="square" rtlCol="0" anchor="ctr"/>
          <a:lstStyle/>
          <a:p>
            <a:pPr algn="ctr" indent="0" marL="0">
              <a:buNone/>
            </a:pPr>
            <a:r>
              <a:rPr lang="en-US" sz="1400" i="1" dirty="0">
                <a:solidFill>
                  <a:srgbClr val="5EEAD4"/>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Credential Usage Confidence Scoring System</dc:title>
  <dc:subject>PptxGenJS Presentation</dc:subject>
  <dc:creator>Final Year CS Student</dc:creator>
  <cp:lastModifiedBy>Final Year CS Student</cp:lastModifiedBy>
  <cp:revision>1</cp:revision>
  <dcterms:created xsi:type="dcterms:W3CDTF">2026-04-23T12:41:51Z</dcterms:created>
  <dcterms:modified xsi:type="dcterms:W3CDTF">2026-04-23T12:41:51Z</dcterms:modified>
</cp:coreProperties>
</file>